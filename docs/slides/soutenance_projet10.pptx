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le projet 10 : apprentissage contrastif auto-supervisé pour le pré-entraînement visuel.
Trois chiffres résument le travail : 32,6 points d'accuracy gagnés avec 1 % des labels ; 22,5 de ces points viennent des seules augmentations de couleur ; et zéro label utilisé pendant le pré-entraînement.
Répartition : AA ouvre sur le contexte, KR et AK sur la méthode, AK sur les résultats et l'ablation, AA sur la démo, KR sur les limites.
[00:00 — 20 min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n'est pas l'architecture, c'est le coût. Toutes les méthodes supervisées supposent un jeu annoté ; en pratique c'est le poste le plus cher, et parfois impossible à l'échelle voulue.
Les images brutes, elles, ne coûtent presque rien.
Notre terrain de mesure est CIFAR-10 : le pré-entraînement voit 50 000 images sans label, et l'évaluation ne dispose parfois que de 450 étiquettes — 45 par classe.
[00:30]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self-supervised learning construit son signal d'apprentissage à partir des données elles-mêmes.
À gauche : une image et ses deux vues augmentées. Elles forment une paire positive. Aucune étiquette n'intervient.
À droite le cadre SimCLR : encodeur partagé f, tête de projection g, et la perte contrastive appliquée sur z.
Le détail qui compte : la tête g est jetée après le pré-entraînement. Seul l'encodeur f est réutilisé. C'est un piège classique et nous ne sommes pas tombés dedans.
[01:15]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question est quantitative, pas conceptuelle. Le mot important est « à budget de calcul strictement égal » : nous y revenons dans deux slides, c'est ce qui rend la comparaison honnête.
Quatre bras. Les deux premiers exploitent le pré-entraînement de deux façons ; le troisième est la baseline ; le quatrième est un témoin que le sujet ne demandait pas.
Ce témoin, c'est notre réponse anticipée à la question « qu'est-ce qui explique votre écart ».
[02:10] — AA passe la main à 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pré-entraînement consomme les 50 000 images du train officiel, sans leurs labels.
Le train est découpé en 45 000 étiquetables et 5 000 de validation. La validation sert uniquement à choisir le taux d'apprentissage.
Trois règles : découpage stratifié, graine de découpage dédiée et fixe, fractions emboîtées. La deuxième est celle qu'on oublie le plus souvent — si la validation bougeait avec la graine d'expérience, nos écarts-types ne voudraient rien dire.
Un script vérifie les trois automatiquement.
[03:00]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briques. L'encodeur : un ResNet-18 avec deux modifications imposées par le 32×32 — sur une image de 32 pixels de côté, une convolution 7×7 de pas 2 efface les détails avant tout traitement utile.
La tête de projection : un MLP jeté après le pré-entraînement.
La perte NT-Xent : le numérateur rapproche la paire positive, le dénominateur éloigne les 510 négatifs du lot.
Un mot sur l'implémentation : cette équation est exactement une entropie croisée. On retire la diagonale, la cible est la position du positif, et cross_entropy calcule la perte. C'est cinq lignes vérifiables plutôt qu'une boucle.
[04:00]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qui rend tout le reste recevable.
Les deux bras comparés partagent la totalité de leurs hyperparamètres : même nombre d'époques, même lot, même optimiseur, même taux d'apprentissage, mêmes augmentations d'entraînement supervisé, même découpage, mêmes graines.
La seule ligne qui diffère est la dernière : l'initialisation des poids de l'encodeur.
Ces valeurs ne sont pas déclaratives : elles sont lues dans les JSON de configuration que les runs ont écrits eux-mêmes. Nous pouvons les ouvrir pendant les questions.
[05:00]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taux d'apprentissage est le seul hyperparamètre que nous avons réglé, et la façon de le régler compte autant que la valeur.
Même grille de cinq valeurs pour les deux méthodes, sur la validation, jamais sur le test.
Les deux culminent en 0,03. Et la valeur 0,2 fait s'effondrer les deux : la grille encadre l'optimum, elle ne s'arrête pas à sa frontière.
Une limite que nous assumons : ce réglage a été fait au régime 10 % puis transféré. Je reviens dessus à la fin.
[05:50] — KR passe la main à 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Je prends les huit minutes de résultats et d'ablation.
[06:00]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courbe centrale demandée par le sujet.
À 450 labels, la baseline supervisée est à 39,5 % ; le même réseau, initialisé par le pré-entraînement, est à 72,1 %. Trente-deux points et demi.
Dit autrement, et c'est la formulation utile : le modèle pré-entraîné atteint 72,1 % avec 450 labels, là où la baseline a besoin de 4 500 labels — dix fois plus — pour n'atteindre que 70,3 %.
À 100 % des labels, l'écart s'annule. Nous disons parité et nous ne revendiquons pas le +0,43 : notre taux d'apprentissage a été réglé au régime 10 %, ce qui désavantage légèrement la baseline à ce point précis. Je préfère le dire avant qu'on me le demande.
[06:40]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complet, y compris les lignes qui ne nous arrangent pas — le linear probe est battu de 11 points par la baseline à 100 % des labels.
Deux lectures. D'abord le témoin : un encodeur aléatoire gelé, évalué exactement comme le nôtre, atteint 25,66 %. Le nôtre atteint 72,00 %. Architecture identique, protocole identique, 5 130 poids entraînés dans les deux cas. Les 46 points d'écart ne peuvent venir que du contenu des poids.
Ensuite, un résultat pratique : à 450 labels, le fine-tuning complet et le probe gelé sont à 0,10 point l'un de l'autre, soit moins que l'écart-type. Avec peu de labels, geler l'encodeur est aussi bon et deux mille fois moins coûteux en paramètres.
[08:00]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de mon bloc : l'ablation des augmentations, exigée par le sujet.
Le design est additif : une seule chose change entre deux lignes.
[08:10]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complet, cinq configurations, y compris « crop + flip » qui fait moins bien que « crop » seul.
La réponse à la question du sujet : ce sont les augmentations de couleur qui portent tout. Le color jitter apporte 13,5 points, les niveaux de gris 9,1 — 22,5 à eux deux, soit la quasi-totalité de l'écart entre la pire et la meilleure configuration.
Le flou ne nous aide pas, alors qu'il aide sur ImageNet. Ce n'est pas une contradiction : sur une image de 32 pixels de côté, un noyau 3×3 couvre presque 10 % de la largeur.
[09:30]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chose vue en graphique. À droite, l'apport propre de chaque brique.
Attention à la formulation : −0,66 et −0,31 sont du même ordre que le bruit d'évaluation. Nous les rapportons comme « aucun effet mesurable », jamais comme un effet négatif. Nous n'avons pas les moyens statistiques d'affirmer que le flip nuit.
En revanche +13,46 et +9,08 sont trop grands pour être du bruit.
[10:30]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résultat que je retiens de ce projet.
La configuration qui minimise le mieux la perte NT-Xent produit la pire représentation. Celle qui a la perte la plus élevée produit la meilleure. Le classement s'inverse presque exactement.
Conséquence méthodologique directe : on ne peut pas sélectionner une configuration de pré-entraînement en regardant sa courbe de perte. Notre script d'ablation affiche d'ailleurs les colonnes de perte en les étiquetant explicitement comme non décisionnelles.
Une précision d'honnêteté : la corrélation de rang vaut 0,80, mais sur cinq configurations seulement, ce qui n'est pas significatif. Nous ne prétendons pas à une loi générale — nous décrivons cinq points et nous expliquons le mécanisme.
[11:30]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mécanisme, en une phrase : sans perturbation des couleurs, les deux vues gardent les mêmes teintes. Le réseau les apparie par histogramme de couleur, sans regarder la forme.
C'est ce qui rend l'observation solide plutôt que fortuite : nous n'avons pas seulement constaté une corrélation, nous pouvons dire par quel chemin elle se produit — et la démo le montre visuellement.
[12:30] — AK passe la main à 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minutes de démonstration — l'exigence est allégée, elle sert à illustrer, pas à constituer un produit.
[Basculer sur le navigateur.]
À gauche, l'encodeur aléatoire : un nuage informe, les couleurs se mélangent. Au milieu, le pré-entraînement au recadrage seul : une structure apparaît, mais les classes ne se séparent pas. À droite, les augmentations complètes : des amas nets, alignés sur les classes réelles, alors qu'aucun label n'a été utilisé.
Je sélectionne une image sur la configuration « crop seul » : ses plus proches voisins ont la même dominante de couleur, mais pas le même contenu. Le raccourci se voit à l'œil nu.
[13:00 — je reste sur la démo jusqu'à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limites, et je les donne avant qu'on nous les demande.
La principale est la taille du lot. Dans NT-Xent les négatifs sont les autres vues du lot ; à 256 nous en avons 510 par ancre, contre plusieurs milliers dans les papiers. Nous ne l'avons pas mesurée, nous la documentons — elle plafonne nos chiffres absolus et interdit toute comparaison directe avec la littérature.
Deuxième : un seul pré-entraînement par configuration. Nos barres d'erreur mesurent la variabilité de l'évaluation, pas celle du pré-entraînement.
Troisième : le taux d'apprentissage transféré, d'où notre prudence sur le +0,43.
Quatrième : nous ne publions aucun ratio de coût en temps, parce que la machine était partagée et que les mesures sont inexploitables.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conclusions.
Le pré-entraînement auto-supervisé paie massivement quand les labels sont rares, et seulement là. C'est le résultat que le sujet demandait de reproduire, et nous le reproduisons.
Ce sont les augmentations de couleur qui portent la qualité de la représentation.
Et le résultat qui nous a le plus appris : la performance sur la tâche prétexte ne prédit pas la qualité de la représentation — elle peut même la contredire.
Merci. Nous sommes prêts pour vos questions.
[16:00 — 4 min 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projeter. Aller directement à la slide utile pendant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courte d'abord (l'encadré), puis développer seulement si on nous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courte d'abord (l'encadré), puis développer seulement si on nous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courte d'abord (l'encadré), puis développer seulement si on nous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courte d'abord (l'encadré), puis développer seulement si on nous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médiane 30,4 s par époque sur RTX 4060 Laptop, pic mémoire 1,37 Go, soit environ 51 minutes pour 100 époques.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secours si le jury demande le détail de la répartition. Elle figure aussi en section 9 du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566928" y="932688"/>
            <a:ext cx="1737360" cy="384048"/>
          </a:xfrm>
          <a:prstGeom prst="roundRect">
            <a:avLst>
              <a:gd name="adj" fmla="val 47619"/>
            </a:avLst>
          </a:prstGeom>
          <a:solidFill>
            <a:srgbClr val="16283C"/>
          </a:solidFill>
          <a:ln w="12700">
            <a:solidFill>
              <a:srgbClr val="2A78D6"/>
            </a:solidFill>
            <a:prstDash val="solid"/>
          </a:ln>
        </p:spPr>
      </p:sp>
      <p:sp>
        <p:nvSpPr>
          <p:cNvPr id="3" name="Text 1"/>
          <p:cNvSpPr/>
          <p:nvPr/>
        </p:nvSpPr>
        <p:spPr>
          <a:xfrm>
            <a:off x="566928" y="932688"/>
            <a:ext cx="1737360" cy="384048"/>
          </a:xfrm>
          <a:prstGeom prst="rect">
            <a:avLst/>
          </a:prstGeom>
          <a:noFill/>
          <a:ln/>
        </p:spPr>
        <p:txBody>
          <a:bodyPr wrap="square" lIns="0" tIns="0" rIns="0" bIns="0" rtlCol="0" anchor="ctr"/>
          <a:lstStyle/>
          <a:p>
            <a:pPr algn="ctr" indent="0" marL="0">
              <a:buNone/>
            </a:pPr>
            <a:r>
              <a:rPr lang="en-US" sz="1150" b="1" spc="150" kern="0" dirty="0">
                <a:solidFill>
                  <a:srgbClr val="6DA7EC"/>
                </a:solidFill>
                <a:latin typeface="Calibri" pitchFamily="34" charset="0"/>
                <a:ea typeface="Calibri" pitchFamily="34" charset="-122"/>
                <a:cs typeface="Calibri" pitchFamily="34" charset="-120"/>
              </a:rPr>
              <a:t>PROJET 10</a:t>
            </a:r>
            <a:endParaRPr lang="en-US" sz="1150" dirty="0"/>
          </a:p>
        </p:txBody>
      </p:sp>
      <p:sp>
        <p:nvSpPr>
          <p:cNvPr id="4" name="Text 2"/>
          <p:cNvSpPr/>
          <p:nvPr/>
        </p:nvSpPr>
        <p:spPr>
          <a:xfrm>
            <a:off x="566928" y="1572768"/>
            <a:ext cx="11057839" cy="749808"/>
          </a:xfrm>
          <a:prstGeom prst="rect">
            <a:avLst/>
          </a:prstGeom>
          <a:noFill/>
          <a:ln/>
        </p:spPr>
        <p:txBody>
          <a:bodyPr wrap="square" lIns="0" tIns="0" rIns="0" bIns="0" rtlCol="0" anchor="ctr"/>
          <a:lstStyle/>
          <a:p>
            <a:pPr indent="0" marL="0">
              <a:buNone/>
            </a:pPr>
            <a:r>
              <a:rPr lang="en-US" sz="4100" b="1" dirty="0">
                <a:solidFill>
                  <a:srgbClr val="FFFFFF"/>
                </a:solidFill>
                <a:latin typeface="Cambria" pitchFamily="34" charset="0"/>
                <a:ea typeface="Cambria" pitchFamily="34" charset="-122"/>
                <a:cs typeface="Cambria" pitchFamily="34" charset="-120"/>
              </a:rPr>
              <a:t>Apprentissage contrastif auto-supervisé</a:t>
            </a:r>
            <a:endParaRPr lang="en-US" sz="4100" dirty="0"/>
          </a:p>
        </p:txBody>
      </p:sp>
      <p:sp>
        <p:nvSpPr>
          <p:cNvPr id="5" name="Text 3"/>
          <p:cNvSpPr/>
          <p:nvPr/>
        </p:nvSpPr>
        <p:spPr>
          <a:xfrm>
            <a:off x="566928" y="2340864"/>
            <a:ext cx="11057839" cy="457200"/>
          </a:xfrm>
          <a:prstGeom prst="rect">
            <a:avLst/>
          </a:prstGeom>
          <a:noFill/>
          <a:ln/>
        </p:spPr>
        <p:txBody>
          <a:bodyPr wrap="square" lIns="0" tIns="0" rIns="0" bIns="0" rtlCol="0" anchor="ctr"/>
          <a:lstStyle/>
          <a:p>
            <a:pPr indent="0" marL="0">
              <a:buNone/>
            </a:pPr>
            <a:r>
              <a:rPr lang="en-US" sz="1900" dirty="0">
                <a:solidFill>
                  <a:srgbClr val="6DA7EC"/>
                </a:solidFill>
                <a:latin typeface="Calibri" pitchFamily="34" charset="0"/>
                <a:ea typeface="Calibri" pitchFamily="34" charset="-122"/>
                <a:cs typeface="Calibri" pitchFamily="34" charset="-120"/>
              </a:rPr>
              <a:t>De combien d'annotations SimCLR nous dispense-t-il sur CIFAR-10 ?</a:t>
            </a:r>
            <a:endParaRPr lang="en-US" sz="1900" dirty="0"/>
          </a:p>
        </p:txBody>
      </p:sp>
      <p:sp>
        <p:nvSpPr>
          <p:cNvPr id="6" name="Shape 4"/>
          <p:cNvSpPr/>
          <p:nvPr/>
        </p:nvSpPr>
        <p:spPr>
          <a:xfrm>
            <a:off x="566928" y="3310128"/>
            <a:ext cx="3200400" cy="1481328"/>
          </a:xfrm>
          <a:prstGeom prst="roundRect">
            <a:avLst>
              <a:gd name="adj" fmla="val 4938"/>
            </a:avLst>
          </a:prstGeom>
          <a:solidFill>
            <a:srgbClr val="F4F6F9"/>
          </a:solidFill>
          <a:ln w="12700">
            <a:solidFill>
              <a:srgbClr val="DFE4EB"/>
            </a:solidFill>
            <a:prstDash val="solid"/>
          </a:ln>
        </p:spPr>
      </p:sp>
      <p:sp>
        <p:nvSpPr>
          <p:cNvPr id="7" name="Text 5"/>
          <p:cNvSpPr/>
          <p:nvPr/>
        </p:nvSpPr>
        <p:spPr>
          <a:xfrm>
            <a:off x="704088" y="3438144"/>
            <a:ext cx="2926080" cy="713232"/>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+32,6 pts</a:t>
            </a:r>
            <a:endParaRPr lang="en-US" sz="4000" dirty="0"/>
          </a:p>
        </p:txBody>
      </p:sp>
      <p:sp>
        <p:nvSpPr>
          <p:cNvPr id="8" name="Text 6"/>
          <p:cNvSpPr/>
          <p:nvPr/>
        </p:nvSpPr>
        <p:spPr>
          <a:xfrm>
            <a:off x="704088" y="4151376"/>
            <a:ext cx="2926080" cy="475488"/>
          </a:xfrm>
          <a:prstGeom prst="rect">
            <a:avLst/>
          </a:prstGeom>
          <a:noFill/>
          <a:ln/>
        </p:spPr>
        <p:txBody>
          <a:bodyPr wrap="square" lIns="0" tIns="0" rIns="0" bIns="0" rtlCol="0" anchor="t"/>
          <a:lstStyle/>
          <a:p>
            <a:pPr algn="ctr" indent="0" marL="0">
              <a:buNone/>
            </a:pPr>
            <a:r>
              <a:rPr lang="en-US" sz="1150" dirty="0">
                <a:solidFill>
                  <a:srgbClr val="4A4F58"/>
                </a:solidFill>
                <a:latin typeface="Calibri" pitchFamily="34" charset="0"/>
                <a:ea typeface="Calibri" pitchFamily="34" charset="-122"/>
                <a:cs typeface="Calibri" pitchFamily="34" charset="-120"/>
              </a:rPr>
              <a:t>avec 1 % des labels,</a:t>
            </a:r>
            <a:endParaRPr lang="en-US" sz="1150" dirty="0"/>
          </a:p>
          <a:p>
            <a:pPr algn="ctr" indent="0" marL="0">
              <a:buNone/>
            </a:pPr>
            <a:r>
              <a:rPr lang="en-US" sz="1150" dirty="0">
                <a:solidFill>
                  <a:srgbClr val="4A4F58"/>
                </a:solidFill>
                <a:latin typeface="Calibri" pitchFamily="34" charset="0"/>
                <a:ea typeface="Calibri" pitchFamily="34" charset="-122"/>
                <a:cs typeface="Calibri" pitchFamily="34" charset="-120"/>
              </a:rPr>
              <a:t>à budget de calcul égal</a:t>
            </a:r>
            <a:endParaRPr lang="en-US" sz="1150" dirty="0"/>
          </a:p>
        </p:txBody>
      </p:sp>
      <p:sp>
        <p:nvSpPr>
          <p:cNvPr id="9" name="Shape 7"/>
          <p:cNvSpPr/>
          <p:nvPr/>
        </p:nvSpPr>
        <p:spPr>
          <a:xfrm>
            <a:off x="3968496" y="3310128"/>
            <a:ext cx="3200400" cy="1481328"/>
          </a:xfrm>
          <a:prstGeom prst="roundRect">
            <a:avLst>
              <a:gd name="adj" fmla="val 4938"/>
            </a:avLst>
          </a:prstGeom>
          <a:solidFill>
            <a:srgbClr val="F4F6F9"/>
          </a:solidFill>
          <a:ln w="12700">
            <a:solidFill>
              <a:srgbClr val="DFE4EB"/>
            </a:solidFill>
            <a:prstDash val="solid"/>
          </a:ln>
        </p:spPr>
      </p:sp>
      <p:sp>
        <p:nvSpPr>
          <p:cNvPr id="10" name="Text 8"/>
          <p:cNvSpPr/>
          <p:nvPr/>
        </p:nvSpPr>
        <p:spPr>
          <a:xfrm>
            <a:off x="4105656" y="3438144"/>
            <a:ext cx="2926080" cy="713232"/>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+22,5 pts</a:t>
            </a:r>
            <a:endParaRPr lang="en-US" sz="4000" dirty="0"/>
          </a:p>
        </p:txBody>
      </p:sp>
      <p:sp>
        <p:nvSpPr>
          <p:cNvPr id="11" name="Text 9"/>
          <p:cNvSpPr/>
          <p:nvPr/>
        </p:nvSpPr>
        <p:spPr>
          <a:xfrm>
            <a:off x="4105656" y="4151376"/>
            <a:ext cx="2926080" cy="475488"/>
          </a:xfrm>
          <a:prstGeom prst="rect">
            <a:avLst/>
          </a:prstGeom>
          <a:noFill/>
          <a:ln/>
        </p:spPr>
        <p:txBody>
          <a:bodyPr wrap="square" lIns="0" tIns="0" rIns="0" bIns="0" rtlCol="0" anchor="t"/>
          <a:lstStyle/>
          <a:p>
            <a:pPr algn="ctr" indent="0" marL="0">
              <a:buNone/>
            </a:pPr>
            <a:r>
              <a:rPr lang="en-US" sz="1150" dirty="0">
                <a:solidFill>
                  <a:srgbClr val="4A4F58"/>
                </a:solidFill>
                <a:latin typeface="Calibri" pitchFamily="34" charset="0"/>
                <a:ea typeface="Calibri" pitchFamily="34" charset="-122"/>
                <a:cs typeface="Calibri" pitchFamily="34" charset="-120"/>
              </a:rPr>
              <a:t>apportés par les seules</a:t>
            </a:r>
            <a:endParaRPr lang="en-US" sz="1150" dirty="0"/>
          </a:p>
          <a:p>
            <a:pPr algn="ctr" indent="0" marL="0">
              <a:buNone/>
            </a:pPr>
            <a:r>
              <a:rPr lang="en-US" sz="1150" dirty="0">
                <a:solidFill>
                  <a:srgbClr val="4A4F58"/>
                </a:solidFill>
                <a:latin typeface="Calibri" pitchFamily="34" charset="0"/>
                <a:ea typeface="Calibri" pitchFamily="34" charset="-122"/>
                <a:cs typeface="Calibri" pitchFamily="34" charset="-120"/>
              </a:rPr>
              <a:t>augmentations de couleur</a:t>
            </a:r>
            <a:endParaRPr lang="en-US" sz="1150" dirty="0"/>
          </a:p>
        </p:txBody>
      </p:sp>
      <p:sp>
        <p:nvSpPr>
          <p:cNvPr id="12" name="Shape 10"/>
          <p:cNvSpPr/>
          <p:nvPr/>
        </p:nvSpPr>
        <p:spPr>
          <a:xfrm>
            <a:off x="7370064" y="3310128"/>
            <a:ext cx="3200400" cy="1481328"/>
          </a:xfrm>
          <a:prstGeom prst="roundRect">
            <a:avLst>
              <a:gd name="adj" fmla="val 4938"/>
            </a:avLst>
          </a:prstGeom>
          <a:solidFill>
            <a:srgbClr val="F4F6F9"/>
          </a:solidFill>
          <a:ln w="12700">
            <a:solidFill>
              <a:srgbClr val="DFE4EB"/>
            </a:solidFill>
            <a:prstDash val="solid"/>
          </a:ln>
        </p:spPr>
      </p:sp>
      <p:sp>
        <p:nvSpPr>
          <p:cNvPr id="13" name="Text 11"/>
          <p:cNvSpPr/>
          <p:nvPr/>
        </p:nvSpPr>
        <p:spPr>
          <a:xfrm>
            <a:off x="7507224" y="3438144"/>
            <a:ext cx="2926080" cy="713232"/>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0 label</a:t>
            </a:r>
            <a:endParaRPr lang="en-US" sz="4000" dirty="0"/>
          </a:p>
        </p:txBody>
      </p:sp>
      <p:sp>
        <p:nvSpPr>
          <p:cNvPr id="14" name="Text 12"/>
          <p:cNvSpPr/>
          <p:nvPr/>
        </p:nvSpPr>
        <p:spPr>
          <a:xfrm>
            <a:off x="7507224" y="4151376"/>
            <a:ext cx="2926080" cy="475488"/>
          </a:xfrm>
          <a:prstGeom prst="rect">
            <a:avLst/>
          </a:prstGeom>
          <a:noFill/>
          <a:ln/>
        </p:spPr>
        <p:txBody>
          <a:bodyPr wrap="square" lIns="0" tIns="0" rIns="0" bIns="0" rtlCol="0" anchor="t"/>
          <a:lstStyle/>
          <a:p>
            <a:pPr algn="ctr" indent="0" marL="0">
              <a:buNone/>
            </a:pPr>
            <a:r>
              <a:rPr lang="en-US" sz="1150" dirty="0">
                <a:solidFill>
                  <a:srgbClr val="4A4F58"/>
                </a:solidFill>
                <a:latin typeface="Calibri" pitchFamily="34" charset="0"/>
                <a:ea typeface="Calibri" pitchFamily="34" charset="-122"/>
                <a:cs typeface="Calibri" pitchFamily="34" charset="-120"/>
              </a:rPr>
              <a:t>utilisé pendant</a:t>
            </a:r>
            <a:endParaRPr lang="en-US" sz="1150" dirty="0"/>
          </a:p>
          <a:p>
            <a:pPr algn="ctr" indent="0" marL="0">
              <a:buNone/>
            </a:pPr>
            <a:r>
              <a:rPr lang="en-US" sz="1150" dirty="0">
                <a:solidFill>
                  <a:srgbClr val="4A4F58"/>
                </a:solidFill>
                <a:latin typeface="Calibri" pitchFamily="34" charset="0"/>
                <a:ea typeface="Calibri" pitchFamily="34" charset="-122"/>
                <a:cs typeface="Calibri" pitchFamily="34" charset="-120"/>
              </a:rPr>
              <a:t>le pré-entraînement</a:t>
            </a:r>
            <a:endParaRPr lang="en-US" sz="1150" dirty="0"/>
          </a:p>
        </p:txBody>
      </p:sp>
      <p:sp>
        <p:nvSpPr>
          <p:cNvPr id="15" name="Text 13"/>
          <p:cNvSpPr/>
          <p:nvPr/>
        </p:nvSpPr>
        <p:spPr>
          <a:xfrm>
            <a:off x="566928" y="5138928"/>
            <a:ext cx="64008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KAMBIA Rafiatou   ·   ALLAGLO Kossiko   ·   AMEGNRAN Athanase</a:t>
            </a:r>
            <a:endParaRPr lang="en-US" sz="1500" dirty="0"/>
          </a:p>
        </p:txBody>
      </p:sp>
      <p:sp>
        <p:nvSpPr>
          <p:cNvPr id="16" name="Text 14"/>
          <p:cNvSpPr/>
          <p:nvPr/>
        </p:nvSpPr>
        <p:spPr>
          <a:xfrm>
            <a:off x="566928" y="5468112"/>
            <a:ext cx="10515600" cy="310896"/>
          </a:xfrm>
          <a:prstGeom prst="rect">
            <a:avLst/>
          </a:prstGeom>
          <a:noFill/>
          <a:ln/>
        </p:spPr>
        <p:txBody>
          <a:bodyPr wrap="square" lIns="0" tIns="0" rIns="0" bIns="0" rtlCol="0" anchor="ctr"/>
          <a:lstStyle/>
          <a:p>
            <a:pPr indent="0" marL="0">
              <a:buNone/>
            </a:pPr>
            <a:r>
              <a:rPr lang="en-US" sz="1150" dirty="0">
                <a:solidFill>
                  <a:srgbClr val="8FA0B4"/>
                </a:solidFill>
                <a:latin typeface="Calibri" pitchFamily="34" charset="0"/>
                <a:ea typeface="Calibri" pitchFamily="34" charset="-122"/>
                <a:cs typeface="Calibri" pitchFamily="34" charset="-120"/>
              </a:rPr>
              <a:t>Master — Cours 14, Projets de recherche appliquée  ·  Encadrant : TCHAYE-KONDI Jude, Ph.D.  ·  Août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Le vrai coût d'un modèle de vision, c'est l'annotation</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Les images sont abondantes. Les étiquettes, non.</a:t>
            </a:r>
            <a:endParaRPr lang="en-US" sz="1400" dirty="0"/>
          </a:p>
        </p:txBody>
      </p:sp>
      <p:sp>
        <p:nvSpPr>
          <p:cNvPr id="4" name="Shape 2"/>
          <p:cNvSpPr/>
          <p:nvPr/>
        </p:nvSpPr>
        <p:spPr>
          <a:xfrm>
            <a:off x="566928" y="1636776"/>
            <a:ext cx="402336" cy="402336"/>
          </a:xfrm>
          <a:prstGeom prst="ellipse">
            <a:avLst/>
          </a:prstGeom>
          <a:solidFill>
            <a:srgbClr val="2A78D6"/>
          </a:solidFill>
          <a:ln w="12700">
            <a:solidFill>
              <a:srgbClr val="2A78D6"/>
            </a:solidFill>
            <a:prstDash val="solid"/>
          </a:ln>
        </p:spPr>
      </p:sp>
      <p:sp>
        <p:nvSpPr>
          <p:cNvPr id="5" name="Text 3"/>
          <p:cNvSpPr/>
          <p:nvPr/>
        </p:nvSpPr>
        <p:spPr>
          <a:xfrm>
            <a:off x="566928" y="16367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70432" y="1600200"/>
            <a:ext cx="5852160" cy="310896"/>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Annoter demande du temps humain</a:t>
            </a:r>
            <a:endParaRPr lang="en-US" sz="1600" dirty="0"/>
          </a:p>
        </p:txBody>
      </p:sp>
      <p:sp>
        <p:nvSpPr>
          <p:cNvPr id="7" name="Text 5"/>
          <p:cNvSpPr/>
          <p:nvPr/>
        </p:nvSpPr>
        <p:spPr>
          <a:xfrm>
            <a:off x="1170432" y="1929384"/>
            <a:ext cx="5852160" cy="658368"/>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et parfois une expertise rare : imagerie médicale, télédétection, contrôle qualité.</a:t>
            </a:r>
            <a:endParaRPr lang="en-US" sz="1300" dirty="0"/>
          </a:p>
        </p:txBody>
      </p:sp>
      <p:sp>
        <p:nvSpPr>
          <p:cNvPr id="8" name="Shape 6"/>
          <p:cNvSpPr/>
          <p:nvPr/>
        </p:nvSpPr>
        <p:spPr>
          <a:xfrm>
            <a:off x="566928" y="2843784"/>
            <a:ext cx="402336" cy="402336"/>
          </a:xfrm>
          <a:prstGeom prst="ellipse">
            <a:avLst/>
          </a:prstGeom>
          <a:solidFill>
            <a:srgbClr val="1BAF7A"/>
          </a:solidFill>
          <a:ln w="12700">
            <a:solidFill>
              <a:srgbClr val="1BAF7A"/>
            </a:solidFill>
            <a:prstDash val="solid"/>
          </a:ln>
        </p:spPr>
      </p:sp>
      <p:sp>
        <p:nvSpPr>
          <p:cNvPr id="9" name="Text 7"/>
          <p:cNvSpPr/>
          <p:nvPr/>
        </p:nvSpPr>
        <p:spPr>
          <a:xfrm>
            <a:off x="566928" y="28437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70432" y="2807208"/>
            <a:ext cx="5852160" cy="310896"/>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Les images non étiquetées sont gratuites</a:t>
            </a:r>
            <a:endParaRPr lang="en-US" sz="1600" dirty="0"/>
          </a:p>
        </p:txBody>
      </p:sp>
      <p:sp>
        <p:nvSpPr>
          <p:cNvPr id="11" name="Text 9"/>
          <p:cNvSpPr/>
          <p:nvPr/>
        </p:nvSpPr>
        <p:spPr>
          <a:xfrm>
            <a:off x="1170432" y="3136392"/>
            <a:ext cx="5852160" cy="658368"/>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flux satellite continus, archives, caméras — des volumes sans commune mesure.</a:t>
            </a:r>
            <a:endParaRPr lang="en-US" sz="1300" dirty="0"/>
          </a:p>
        </p:txBody>
      </p:sp>
      <p:sp>
        <p:nvSpPr>
          <p:cNvPr id="12" name="Shape 10"/>
          <p:cNvSpPr/>
          <p:nvPr/>
        </p:nvSpPr>
        <p:spPr>
          <a:xfrm>
            <a:off x="566928" y="4050792"/>
            <a:ext cx="402336" cy="402336"/>
          </a:xfrm>
          <a:prstGeom prst="ellipse">
            <a:avLst/>
          </a:prstGeom>
          <a:solidFill>
            <a:srgbClr val="EB6834"/>
          </a:solidFill>
          <a:ln w="12700">
            <a:solidFill>
              <a:srgbClr val="EB6834"/>
            </a:solidFill>
            <a:prstDash val="solid"/>
          </a:ln>
        </p:spPr>
      </p:sp>
      <p:sp>
        <p:nvSpPr>
          <p:cNvPr id="13" name="Text 11"/>
          <p:cNvSpPr/>
          <p:nvPr/>
        </p:nvSpPr>
        <p:spPr>
          <a:xfrm>
            <a:off x="566928" y="40507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70432" y="4014216"/>
            <a:ext cx="5852160" cy="310896"/>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La question devient économique</a:t>
            </a:r>
            <a:endParaRPr lang="en-US" sz="1600" dirty="0"/>
          </a:p>
        </p:txBody>
      </p:sp>
      <p:sp>
        <p:nvSpPr>
          <p:cNvPr id="15" name="Text 13"/>
          <p:cNvSpPr/>
          <p:nvPr/>
        </p:nvSpPr>
        <p:spPr>
          <a:xfrm>
            <a:off x="1170432" y="4343400"/>
            <a:ext cx="5852160" cy="658368"/>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peut-on apprendre une représentation utile SANS labels, et n'en dépenser qu'un minimum ensuite ?</a:t>
            </a:r>
            <a:endParaRPr lang="en-US" sz="1300" dirty="0"/>
          </a:p>
        </p:txBody>
      </p:sp>
      <p:sp>
        <p:nvSpPr>
          <p:cNvPr id="16" name="Shape 14"/>
          <p:cNvSpPr/>
          <p:nvPr/>
        </p:nvSpPr>
        <p:spPr>
          <a:xfrm>
            <a:off x="7178040" y="1600200"/>
            <a:ext cx="4462272" cy="3246120"/>
          </a:xfrm>
          <a:prstGeom prst="roundRect">
            <a:avLst>
              <a:gd name="adj" fmla="val 2254"/>
            </a:avLst>
          </a:prstGeom>
          <a:solidFill>
            <a:srgbClr val="EAF2FC"/>
          </a:solidFill>
          <a:ln w="12700">
            <a:solidFill>
              <a:srgbClr val="2A78D6"/>
            </a:solidFill>
            <a:prstDash val="solid"/>
          </a:ln>
        </p:spPr>
      </p:sp>
      <p:sp>
        <p:nvSpPr>
          <p:cNvPr id="17" name="Text 15"/>
          <p:cNvSpPr/>
          <p:nvPr/>
        </p:nvSpPr>
        <p:spPr>
          <a:xfrm>
            <a:off x="7452360" y="1828800"/>
            <a:ext cx="393192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Notre terrain de mesure</a:t>
            </a:r>
            <a:endParaRPr lang="en-US" sz="1200" dirty="0"/>
          </a:p>
        </p:txBody>
      </p:sp>
      <p:sp>
        <p:nvSpPr>
          <p:cNvPr id="18" name="Text 16"/>
          <p:cNvSpPr/>
          <p:nvPr/>
        </p:nvSpPr>
        <p:spPr>
          <a:xfrm>
            <a:off x="7452360" y="2176272"/>
            <a:ext cx="3931920" cy="1005840"/>
          </a:xfrm>
          <a:prstGeom prst="rect">
            <a:avLst/>
          </a:prstGeom>
          <a:noFill/>
          <a:ln/>
        </p:spPr>
        <p:txBody>
          <a:bodyPr wrap="square" lIns="0" tIns="0" rIns="0" bIns="0" rtlCol="0" anchor="ctr"/>
          <a:lstStyle/>
          <a:p>
            <a:pPr indent="0" marL="0">
              <a:buNone/>
            </a:pPr>
            <a:r>
              <a:rPr lang="en-US" sz="2600" b="1" dirty="0">
                <a:solidFill>
                  <a:srgbClr val="10131A"/>
                </a:solidFill>
                <a:latin typeface="Cambria" pitchFamily="34" charset="0"/>
                <a:ea typeface="Cambria" pitchFamily="34" charset="-122"/>
                <a:cs typeface="Cambria" pitchFamily="34" charset="-120"/>
              </a:rPr>
              <a:t>CIFAR-10</a:t>
            </a:r>
            <a:endParaRPr lang="en-US" sz="2600" dirty="0"/>
          </a:p>
          <a:p>
            <a:pPr indent="0" marL="0">
              <a:buNone/>
            </a:pPr>
            <a:r>
              <a:rPr lang="en-US" sz="1350" dirty="0">
                <a:solidFill>
                  <a:srgbClr val="4A4F58"/>
                </a:solidFill>
                <a:latin typeface="Calibri" pitchFamily="34" charset="0"/>
                <a:ea typeface="Calibri" pitchFamily="34" charset="-122"/>
                <a:cs typeface="Calibri" pitchFamily="34" charset="-120"/>
              </a:rPr>
              <a:t>60 000 images 32×32, 10 classes parfaitement équilibrées.</a:t>
            </a:r>
            <a:endParaRPr lang="en-US" sz="2600" dirty="0"/>
          </a:p>
        </p:txBody>
      </p:sp>
      <p:sp>
        <p:nvSpPr>
          <p:cNvPr id="19" name="Text 17"/>
          <p:cNvSpPr/>
          <p:nvPr/>
        </p:nvSpPr>
        <p:spPr>
          <a:xfrm>
            <a:off x="7452360" y="3246120"/>
            <a:ext cx="3931920" cy="1463040"/>
          </a:xfrm>
          <a:prstGeom prst="rect">
            <a:avLst/>
          </a:prstGeom>
          <a:noFill/>
          <a:ln/>
        </p:spPr>
        <p:txBody>
          <a:bodyPr wrap="square" lIns="0" tIns="0" rIns="0" bIns="0" rtlCol="0" anchor="ctr"/>
          <a:lstStyle/>
          <a:p>
            <a:pPr indent="0" marL="0">
              <a:lnSpc>
                <a:spcPct val="125000"/>
              </a:lnSpc>
              <a:buNone/>
            </a:pPr>
            <a:r>
              <a:rPr lang="en-US" sz="2000" b="1" dirty="0">
                <a:solidFill>
                  <a:srgbClr val="2A78D6"/>
                </a:solidFill>
                <a:latin typeface="Calibri" pitchFamily="34" charset="0"/>
                <a:ea typeface="Calibri" pitchFamily="34" charset="-122"/>
                <a:cs typeface="Calibri" pitchFamily="34" charset="-120"/>
              </a:rPr>
              <a:t>50 000</a:t>
            </a:r>
            <a:pPr indent="0" marL="0">
              <a:lnSpc>
                <a:spcPct val="125000"/>
              </a:lnSpc>
              <a:buNone/>
            </a:pPr>
            <a:r>
              <a:rPr lang="en-US" sz="1300" dirty="0">
                <a:solidFill>
                  <a:srgbClr val="4A4F58"/>
                </a:solidFill>
                <a:latin typeface="Calibri" pitchFamily="34" charset="0"/>
                <a:ea typeface="Calibri" pitchFamily="34" charset="-122"/>
                <a:cs typeface="Calibri" pitchFamily="34" charset="-120"/>
              </a:rPr>
              <a:t>  images vues au pré-entraînement, sans un seul label</a:t>
            </a:r>
            <a:endParaRPr lang="en-US" sz="2000" dirty="0"/>
          </a:p>
          <a:p>
            <a:pPr indent="0" marL="0">
              <a:lnSpc>
                <a:spcPct val="125000"/>
              </a:lnSpc>
              <a:buNone/>
            </a:pPr>
            <a:r>
              <a:rPr lang="en-US" sz="2000" b="1" dirty="0">
                <a:solidFill>
                  <a:srgbClr val="EB6834"/>
                </a:solidFill>
                <a:latin typeface="Calibri" pitchFamily="34" charset="0"/>
                <a:ea typeface="Calibri" pitchFamily="34" charset="-122"/>
                <a:cs typeface="Calibri" pitchFamily="34" charset="-120"/>
              </a:rPr>
              <a:t>450</a:t>
            </a:r>
            <a:pPr indent="0" marL="0">
              <a:lnSpc>
                <a:spcPct val="125000"/>
              </a:lnSpc>
              <a:buNone/>
            </a:pPr>
            <a:r>
              <a:rPr lang="en-US" sz="1300" dirty="0">
                <a:solidFill>
                  <a:srgbClr val="4A4F58"/>
                </a:solidFill>
                <a:latin typeface="Calibri" pitchFamily="34" charset="0"/>
                <a:ea typeface="Calibri" pitchFamily="34" charset="-122"/>
                <a:cs typeface="Calibri" pitchFamily="34" charset="-120"/>
              </a:rPr>
              <a:t>  images étiquetées dans le régime le plus contraint</a:t>
            </a:r>
            <a:endParaRPr lang="en-US" sz="2000" dirty="0"/>
          </a:p>
          <a:p>
            <a:pPr indent="0" marL="0">
              <a:lnSpc>
                <a:spcPct val="125000"/>
              </a:lnSpc>
              <a:buNone/>
            </a:pPr>
            <a:r>
              <a:rPr lang="en-US" sz="2000" b="1" dirty="0">
                <a:solidFill>
                  <a:srgbClr val="10131A"/>
                </a:solidFill>
                <a:latin typeface="Calibri" pitchFamily="34" charset="0"/>
                <a:ea typeface="Calibri" pitchFamily="34" charset="-122"/>
                <a:cs typeface="Calibri" pitchFamily="34" charset="-120"/>
              </a:rPr>
              <a:t>10 000</a:t>
            </a:r>
            <a:pPr indent="0" marL="0">
              <a:lnSpc>
                <a:spcPct val="125000"/>
              </a:lnSpc>
              <a:buNone/>
            </a:pPr>
            <a:r>
              <a:rPr lang="en-US" sz="1300" dirty="0">
                <a:solidFill>
                  <a:srgbClr val="4A4F58"/>
                </a:solidFill>
                <a:latin typeface="Calibri" pitchFamily="34" charset="0"/>
                <a:ea typeface="Calibri" pitchFamily="34" charset="-122"/>
                <a:cs typeface="Calibri" pitchFamily="34" charset="-120"/>
              </a:rPr>
              <a:t>  images de test, ouvertes une seule fois</a:t>
            </a:r>
            <a:endParaRPr lang="en-US" sz="2000" dirty="0"/>
          </a:p>
        </p:txBody>
      </p:sp>
      <p:sp>
        <p:nvSpPr>
          <p:cNvPr id="20" name="Text 18"/>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Athanase</a:t>
            </a:r>
            <a:endParaRPr lang="en-US" sz="1000" dirty="0"/>
          </a:p>
        </p:txBody>
      </p:sp>
      <p:sp>
        <p:nvSpPr>
          <p:cNvPr id="21" name="Text 19"/>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Contexte — 3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L'idée : fabriquer sa propre supervision</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Deux vues augmentées de la même image forment une paire positive ; tout le reste du lot fournit les négatifs.</a:t>
            </a:r>
            <a:endParaRPr lang="en-US" sz="1400" dirty="0"/>
          </a:p>
        </p:txBody>
      </p:sp>
      <p:pic>
        <p:nvPicPr>
          <p:cNvPr id="4" name="Image 0" descr="/tmp/p10/fig/fig_vues.png">    </p:cNvPr>
          <p:cNvPicPr>
            <a:picLocks noChangeAspect="1"/>
          </p:cNvPicPr>
          <p:nvPr/>
        </p:nvPicPr>
        <p:blipFill>
          <a:blip r:embed="rId1"/>
          <a:stretch>
            <a:fillRect/>
          </a:stretch>
        </p:blipFill>
        <p:spPr>
          <a:xfrm>
            <a:off x="566928" y="1730696"/>
            <a:ext cx="3200400" cy="3661785"/>
          </a:xfrm>
          <a:prstGeom prst="rect">
            <a:avLst/>
          </a:prstGeom>
        </p:spPr>
      </p:pic>
      <p:sp>
        <p:nvSpPr>
          <p:cNvPr id="5" name="Text 2"/>
          <p:cNvSpPr/>
          <p:nvPr/>
        </p:nvSpPr>
        <p:spPr>
          <a:xfrm>
            <a:off x="566928" y="5705856"/>
            <a:ext cx="3200400" cy="548640"/>
          </a:xfrm>
          <a:prstGeom prst="rect">
            <a:avLst/>
          </a:prstGeom>
          <a:noFill/>
          <a:ln/>
        </p:spPr>
        <p:txBody>
          <a:bodyPr wrap="square" lIns="0" tIns="0" rIns="0" bIns="0" rtlCol="0" anchor="ctr"/>
          <a:lstStyle/>
          <a:p>
            <a:pPr indent="0" marL="0">
              <a:buNone/>
            </a:pPr>
            <a:r>
              <a:rPr lang="en-US" sz="1050" i="1" dirty="0">
                <a:solidFill>
                  <a:srgbClr val="7C828C"/>
                </a:solidFill>
                <a:latin typeface="Calibri" pitchFamily="34" charset="0"/>
                <a:ea typeface="Calibri" pitchFamily="34" charset="-122"/>
                <a:cs typeface="Calibri" pitchFamily="34" charset="-120"/>
              </a:rPr>
              <a:t>Une image, deux vues. Le réseau ne sait pas ce qu'est une grenouille — il sait que ces deux vues viennent de la même image.</a:t>
            </a:r>
            <a:endParaRPr lang="en-US" sz="1050" dirty="0"/>
          </a:p>
        </p:txBody>
      </p:sp>
      <p:pic>
        <p:nvPicPr>
          <p:cNvPr id="6" name="Image 1" descr="/tmp/p10/fig/fig_pipeline.png">    </p:cNvPr>
          <p:cNvPicPr>
            <a:picLocks noChangeAspect="1"/>
          </p:cNvPicPr>
          <p:nvPr/>
        </p:nvPicPr>
        <p:blipFill>
          <a:blip r:embed="rId2"/>
          <a:stretch>
            <a:fillRect/>
          </a:stretch>
        </p:blipFill>
        <p:spPr>
          <a:xfrm>
            <a:off x="4327855" y="1572768"/>
            <a:ext cx="7117690" cy="3200400"/>
          </a:xfrm>
          <a:prstGeom prst="rect">
            <a:avLst/>
          </a:prstGeom>
        </p:spPr>
      </p:pic>
      <p:sp>
        <p:nvSpPr>
          <p:cNvPr id="7" name="Shape 3"/>
          <p:cNvSpPr/>
          <p:nvPr/>
        </p:nvSpPr>
        <p:spPr>
          <a:xfrm>
            <a:off x="4114800" y="4864608"/>
            <a:ext cx="7543800" cy="1371600"/>
          </a:xfrm>
          <a:prstGeom prst="roundRect">
            <a:avLst>
              <a:gd name="adj" fmla="val 5333"/>
            </a:avLst>
          </a:prstGeom>
          <a:solidFill>
            <a:srgbClr val="EAF7F1"/>
          </a:solidFill>
          <a:ln w="12700">
            <a:solidFill>
              <a:srgbClr val="1BAF7A"/>
            </a:solidFill>
            <a:prstDash val="solid"/>
          </a:ln>
        </p:spPr>
      </p:sp>
      <p:sp>
        <p:nvSpPr>
          <p:cNvPr id="8" name="Text 4"/>
          <p:cNvSpPr/>
          <p:nvPr/>
        </p:nvSpPr>
        <p:spPr>
          <a:xfrm>
            <a:off x="4389120" y="5029200"/>
            <a:ext cx="6995160" cy="1051560"/>
          </a:xfrm>
          <a:prstGeom prst="rect">
            <a:avLst/>
          </a:prstGeom>
          <a:noFill/>
          <a:ln/>
        </p:spPr>
        <p:txBody>
          <a:bodyPr wrap="square" lIns="0" tIns="0" rIns="0" bIns="0" rtlCol="0" anchor="ctr"/>
          <a:lstStyle/>
          <a:p>
            <a:pPr indent="0" marL="0">
              <a:buNone/>
            </a:pPr>
            <a:r>
              <a:rPr lang="en-US" sz="1200" b="1" spc="100" kern="0" dirty="0">
                <a:solidFill>
                  <a:srgbClr val="1BAF7A"/>
                </a:solidFill>
                <a:latin typeface="Calibri" pitchFamily="34" charset="0"/>
                <a:ea typeface="Calibri" pitchFamily="34" charset="-122"/>
                <a:cs typeface="Calibri" pitchFamily="34" charset="-120"/>
              </a:rPr>
              <a:t>Le point que nous retenons  </a:t>
            </a:r>
            <a:endParaRPr lang="en-US" sz="1200" dirty="0"/>
          </a:p>
          <a:p>
            <a:pPr indent="0" marL="0">
              <a:buNone/>
            </a:pPr>
            <a:r>
              <a:rPr lang="en-US" sz="1350" dirty="0">
                <a:solidFill>
                  <a:srgbClr val="10131A"/>
                </a:solidFill>
                <a:latin typeface="Calibri" pitchFamily="34" charset="0"/>
                <a:ea typeface="Calibri" pitchFamily="34" charset="-122"/>
                <a:cs typeface="Calibri" pitchFamily="34" charset="-120"/>
              </a:rPr>
              <a:t>La perte s'applique sur z, mais c'est h qui est réutilisé en aval : la tête de projection est jetée après le pré-entraînement. Oublier de la jeter est l'erreur classique sur ce sujet.</a:t>
            </a:r>
            <a:endParaRPr lang="en-US" sz="1200" dirty="0"/>
          </a:p>
        </p:txBody>
      </p:sp>
      <p:sp>
        <p:nvSpPr>
          <p:cNvPr id="9" name="Text 5"/>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Athanase</a:t>
            </a:r>
            <a:endParaRPr lang="en-US" sz="1000" dirty="0"/>
          </a:p>
        </p:txBody>
      </p:sp>
      <p:sp>
        <p:nvSpPr>
          <p:cNvPr id="10" name="Text 6"/>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Contexte — 3 min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A"/>
        </a:solidFill>
      </p:bgPr>
    </p:bg>
    <p:spTree>
      <p:nvGrpSpPr>
        <p:cNvPr id="1" name=""/>
        <p:cNvGrpSpPr/>
        <p:nvPr/>
      </p:nvGrpSpPr>
      <p:grpSpPr>
        <a:xfrm>
          <a:off x="0" y="0"/>
          <a:ext cx="0" cy="0"/>
          <a:chOff x="0" y="0"/>
          <a:chExt cx="0" cy="0"/>
        </a:xfrm>
      </p:grpSpPr>
      <p:sp>
        <p:nvSpPr>
          <p:cNvPr id="2" name="Text 0"/>
          <p:cNvSpPr/>
          <p:nvPr/>
        </p:nvSpPr>
        <p:spPr>
          <a:xfrm>
            <a:off x="566928" y="566928"/>
            <a:ext cx="11057839" cy="457200"/>
          </a:xfrm>
          <a:prstGeom prst="rect">
            <a:avLst/>
          </a:prstGeom>
          <a:noFill/>
          <a:ln/>
        </p:spPr>
        <p:txBody>
          <a:bodyPr wrap="square" lIns="0" tIns="0" rIns="0" bIns="0" rtlCol="0" anchor="ctr"/>
          <a:lstStyle/>
          <a:p>
            <a:pPr indent="0" marL="0">
              <a:buNone/>
            </a:pPr>
            <a:r>
              <a:rPr lang="en-US" sz="1500" b="1" spc="150" kern="0" dirty="0">
                <a:solidFill>
                  <a:srgbClr val="6DA7EC"/>
                </a:solidFill>
                <a:latin typeface="Calibri" pitchFamily="34" charset="0"/>
                <a:ea typeface="Calibri" pitchFamily="34" charset="-122"/>
                <a:cs typeface="Calibri" pitchFamily="34" charset="-120"/>
              </a:rPr>
              <a:t>Notre question de recherche</a:t>
            </a:r>
            <a:endParaRPr lang="en-US" sz="1500" dirty="0"/>
          </a:p>
        </p:txBody>
      </p:sp>
      <p:sp>
        <p:nvSpPr>
          <p:cNvPr id="3" name="Text 1"/>
          <p:cNvSpPr/>
          <p:nvPr/>
        </p:nvSpPr>
        <p:spPr>
          <a:xfrm>
            <a:off x="566928" y="1078992"/>
            <a:ext cx="10607040" cy="12344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À budget de calcul strictement égal, de combien d'images annotées un pré-entraînement contrastif dispense-t-il un classifieur CIFAR-10 ?</a:t>
            </a:r>
            <a:endParaRPr lang="en-US" sz="2700" dirty="0"/>
          </a:p>
        </p:txBody>
      </p:sp>
      <p:sp>
        <p:nvSpPr>
          <p:cNvPr id="4" name="Text 2"/>
          <p:cNvSpPr/>
          <p:nvPr/>
        </p:nvSpPr>
        <p:spPr>
          <a:xfrm>
            <a:off x="566928" y="2542032"/>
            <a:ext cx="10607040" cy="310896"/>
          </a:xfrm>
          <a:prstGeom prst="rect">
            <a:avLst/>
          </a:prstGeom>
          <a:noFill/>
          <a:ln/>
        </p:spPr>
        <p:txBody>
          <a:bodyPr wrap="square" lIns="0" tIns="0" rIns="0" bIns="0" rtlCol="0" anchor="ctr"/>
          <a:lstStyle/>
          <a:p>
            <a:pPr indent="0" marL="0">
              <a:buNone/>
            </a:pPr>
            <a:r>
              <a:rPr lang="en-US" sz="1400" dirty="0">
                <a:solidFill>
                  <a:srgbClr val="B9C6D6"/>
                </a:solidFill>
                <a:latin typeface="Calibri" pitchFamily="34" charset="0"/>
                <a:ea typeface="Calibri" pitchFamily="34" charset="-122"/>
                <a:cs typeface="Calibri" pitchFamily="34" charset="-120"/>
              </a:rPr>
              <a:t>Quatre bras comparés, tous appariés : même découpage, mêmes graines, mêmes sous-ensembles étiquetés.</a:t>
            </a:r>
            <a:endParaRPr lang="en-US" sz="1400" dirty="0"/>
          </a:p>
        </p:txBody>
      </p:sp>
      <p:sp>
        <p:nvSpPr>
          <p:cNvPr id="5" name="Shape 3"/>
          <p:cNvSpPr/>
          <p:nvPr/>
        </p:nvSpPr>
        <p:spPr>
          <a:xfrm>
            <a:off x="566928" y="3072384"/>
            <a:ext cx="2615184" cy="1572768"/>
          </a:xfrm>
          <a:prstGeom prst="roundRect">
            <a:avLst>
              <a:gd name="adj" fmla="val 4651"/>
            </a:avLst>
          </a:prstGeom>
          <a:solidFill>
            <a:srgbClr val="16283C"/>
          </a:solidFill>
          <a:ln w="15875">
            <a:solidFill>
              <a:srgbClr val="6DA7EC"/>
            </a:solidFill>
            <a:prstDash val="solid"/>
          </a:ln>
        </p:spPr>
      </p:sp>
      <p:sp>
        <p:nvSpPr>
          <p:cNvPr id="6" name="Text 4"/>
          <p:cNvSpPr/>
          <p:nvPr/>
        </p:nvSpPr>
        <p:spPr>
          <a:xfrm>
            <a:off x="749808" y="3255264"/>
            <a:ext cx="2249424" cy="658368"/>
          </a:xfrm>
          <a:prstGeom prst="rect">
            <a:avLst/>
          </a:prstGeom>
          <a:noFill/>
          <a:ln/>
        </p:spPr>
        <p:txBody>
          <a:bodyPr wrap="square" lIns="0" tIns="0" rIns="0" bIns="0" rtlCol="0" anchor="ctr"/>
          <a:lstStyle/>
          <a:p>
            <a:pPr indent="0" marL="0">
              <a:buNone/>
            </a:pPr>
            <a:r>
              <a:rPr lang="en-US" sz="1500" b="1" dirty="0">
                <a:solidFill>
                  <a:srgbClr val="6DA7EC"/>
                </a:solidFill>
                <a:latin typeface="Calibri" pitchFamily="34" charset="0"/>
                <a:ea typeface="Calibri" pitchFamily="34" charset="-122"/>
                <a:cs typeface="Calibri" pitchFamily="34" charset="-120"/>
              </a:rPr>
              <a:t>Fine-tuning SimCLR</a:t>
            </a:r>
            <a:endParaRPr lang="en-US" sz="1500" dirty="0"/>
          </a:p>
        </p:txBody>
      </p:sp>
      <p:sp>
        <p:nvSpPr>
          <p:cNvPr id="7" name="Text 5"/>
          <p:cNvSpPr/>
          <p:nvPr/>
        </p:nvSpPr>
        <p:spPr>
          <a:xfrm>
            <a:off x="749808" y="3895344"/>
            <a:ext cx="2249424" cy="621792"/>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encodeur pré-entraîné, tout s'adapte</a:t>
            </a:r>
            <a:endParaRPr lang="en-US" sz="1200" dirty="0"/>
          </a:p>
        </p:txBody>
      </p:sp>
      <p:sp>
        <p:nvSpPr>
          <p:cNvPr id="8" name="Shape 6"/>
          <p:cNvSpPr/>
          <p:nvPr/>
        </p:nvSpPr>
        <p:spPr>
          <a:xfrm>
            <a:off x="3364992" y="3072384"/>
            <a:ext cx="2615184" cy="1572768"/>
          </a:xfrm>
          <a:prstGeom prst="roundRect">
            <a:avLst>
              <a:gd name="adj" fmla="val 4651"/>
            </a:avLst>
          </a:prstGeom>
          <a:solidFill>
            <a:srgbClr val="16283C"/>
          </a:solidFill>
          <a:ln w="15875">
            <a:solidFill>
              <a:srgbClr val="5FD2A6"/>
            </a:solidFill>
            <a:prstDash val="solid"/>
          </a:ln>
        </p:spPr>
      </p:sp>
      <p:sp>
        <p:nvSpPr>
          <p:cNvPr id="9" name="Text 7"/>
          <p:cNvSpPr/>
          <p:nvPr/>
        </p:nvSpPr>
        <p:spPr>
          <a:xfrm>
            <a:off x="3547872" y="3255264"/>
            <a:ext cx="2249424" cy="658368"/>
          </a:xfrm>
          <a:prstGeom prst="rect">
            <a:avLst/>
          </a:prstGeom>
          <a:noFill/>
          <a:ln/>
        </p:spPr>
        <p:txBody>
          <a:bodyPr wrap="square" lIns="0" tIns="0" rIns="0" bIns="0" rtlCol="0" anchor="ctr"/>
          <a:lstStyle/>
          <a:p>
            <a:pPr indent="0" marL="0">
              <a:buNone/>
            </a:pPr>
            <a:r>
              <a:rPr lang="en-US" sz="1500" b="1" dirty="0">
                <a:solidFill>
                  <a:srgbClr val="5FD2A6"/>
                </a:solidFill>
                <a:latin typeface="Calibri" pitchFamily="34" charset="0"/>
                <a:ea typeface="Calibri" pitchFamily="34" charset="-122"/>
                <a:cs typeface="Calibri" pitchFamily="34" charset="-120"/>
              </a:rPr>
              <a:t>Linear probe SimCLR</a:t>
            </a:r>
            <a:endParaRPr lang="en-US" sz="1500" dirty="0"/>
          </a:p>
        </p:txBody>
      </p:sp>
      <p:sp>
        <p:nvSpPr>
          <p:cNvPr id="10" name="Text 8"/>
          <p:cNvSpPr/>
          <p:nvPr/>
        </p:nvSpPr>
        <p:spPr>
          <a:xfrm>
            <a:off x="3547872" y="3895344"/>
            <a:ext cx="2249424" cy="621792"/>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encodeur gelé, ~5 130 poids entraînés</a:t>
            </a:r>
            <a:endParaRPr lang="en-US" sz="1200" dirty="0"/>
          </a:p>
        </p:txBody>
      </p:sp>
      <p:sp>
        <p:nvSpPr>
          <p:cNvPr id="11" name="Shape 9"/>
          <p:cNvSpPr/>
          <p:nvPr/>
        </p:nvSpPr>
        <p:spPr>
          <a:xfrm>
            <a:off x="6163056" y="3072384"/>
            <a:ext cx="2615184" cy="1572768"/>
          </a:xfrm>
          <a:prstGeom prst="roundRect">
            <a:avLst>
              <a:gd name="adj" fmla="val 4651"/>
            </a:avLst>
          </a:prstGeom>
          <a:solidFill>
            <a:srgbClr val="16283C"/>
          </a:solidFill>
          <a:ln w="15875">
            <a:solidFill>
              <a:srgbClr val="F79B77"/>
            </a:solidFill>
            <a:prstDash val="solid"/>
          </a:ln>
        </p:spPr>
      </p:sp>
      <p:sp>
        <p:nvSpPr>
          <p:cNvPr id="12" name="Text 10"/>
          <p:cNvSpPr/>
          <p:nvPr/>
        </p:nvSpPr>
        <p:spPr>
          <a:xfrm>
            <a:off x="6345936" y="3255264"/>
            <a:ext cx="2249424" cy="658368"/>
          </a:xfrm>
          <a:prstGeom prst="rect">
            <a:avLst/>
          </a:prstGeom>
          <a:noFill/>
          <a:ln/>
        </p:spPr>
        <p:txBody>
          <a:bodyPr wrap="square" lIns="0" tIns="0" rIns="0" bIns="0" rtlCol="0" anchor="ctr"/>
          <a:lstStyle/>
          <a:p>
            <a:pPr indent="0" marL="0">
              <a:buNone/>
            </a:pPr>
            <a:r>
              <a:rPr lang="en-US" sz="1500" b="1" dirty="0">
                <a:solidFill>
                  <a:srgbClr val="F79B77"/>
                </a:solidFill>
                <a:latin typeface="Calibri" pitchFamily="34" charset="0"/>
                <a:ea typeface="Calibri" pitchFamily="34" charset="-122"/>
                <a:cs typeface="Calibri" pitchFamily="34" charset="-120"/>
              </a:rPr>
              <a:t>Supervisé from scratch</a:t>
            </a:r>
            <a:endParaRPr lang="en-US" sz="1500" dirty="0"/>
          </a:p>
        </p:txBody>
      </p:sp>
      <p:sp>
        <p:nvSpPr>
          <p:cNvPr id="13" name="Text 11"/>
          <p:cNvSpPr/>
          <p:nvPr/>
        </p:nvSpPr>
        <p:spPr>
          <a:xfrm>
            <a:off x="6345936" y="3895344"/>
            <a:ext cx="2249424" cy="621792"/>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la baseline concurrente</a:t>
            </a:r>
            <a:endParaRPr lang="en-US" sz="1200" dirty="0"/>
          </a:p>
        </p:txBody>
      </p:sp>
      <p:sp>
        <p:nvSpPr>
          <p:cNvPr id="14" name="Shape 12"/>
          <p:cNvSpPr/>
          <p:nvPr/>
        </p:nvSpPr>
        <p:spPr>
          <a:xfrm>
            <a:off x="8961120" y="3072384"/>
            <a:ext cx="2615184" cy="1572768"/>
          </a:xfrm>
          <a:prstGeom prst="roundRect">
            <a:avLst>
              <a:gd name="adj" fmla="val 4651"/>
            </a:avLst>
          </a:prstGeom>
          <a:solidFill>
            <a:srgbClr val="16283C"/>
          </a:solidFill>
          <a:ln w="15875">
            <a:solidFill>
              <a:srgbClr val="9AA7B6"/>
            </a:solidFill>
            <a:prstDash val="solid"/>
          </a:ln>
        </p:spPr>
      </p:sp>
      <p:sp>
        <p:nvSpPr>
          <p:cNvPr id="15" name="Text 13"/>
          <p:cNvSpPr/>
          <p:nvPr/>
        </p:nvSpPr>
        <p:spPr>
          <a:xfrm>
            <a:off x="9144000" y="3255264"/>
            <a:ext cx="2249424" cy="658368"/>
          </a:xfrm>
          <a:prstGeom prst="rect">
            <a:avLst/>
          </a:prstGeom>
          <a:noFill/>
          <a:ln/>
        </p:spPr>
        <p:txBody>
          <a:bodyPr wrap="square" lIns="0" tIns="0" rIns="0" bIns="0" rtlCol="0" anchor="ctr"/>
          <a:lstStyle/>
          <a:p>
            <a:pPr indent="0" marL="0">
              <a:buNone/>
            </a:pPr>
            <a:r>
              <a:rPr lang="en-US" sz="1500" b="1" dirty="0">
                <a:solidFill>
                  <a:srgbClr val="9AA7B6"/>
                </a:solidFill>
                <a:latin typeface="Calibri" pitchFamily="34" charset="0"/>
                <a:ea typeface="Calibri" pitchFamily="34" charset="-122"/>
                <a:cs typeface="Calibri" pitchFamily="34" charset="-120"/>
              </a:rPr>
              <a:t>Encodeur aléatoire gelé</a:t>
            </a:r>
            <a:endParaRPr lang="en-US" sz="1500" dirty="0"/>
          </a:p>
        </p:txBody>
      </p:sp>
      <p:sp>
        <p:nvSpPr>
          <p:cNvPr id="16" name="Text 14"/>
          <p:cNvSpPr/>
          <p:nvPr/>
        </p:nvSpPr>
        <p:spPr>
          <a:xfrm>
            <a:off x="9144000" y="3895344"/>
            <a:ext cx="2249424" cy="621792"/>
          </a:xfrm>
          <a:prstGeom prst="rect">
            <a:avLst/>
          </a:prstGeom>
          <a:noFill/>
          <a:ln/>
        </p:spPr>
        <p:txBody>
          <a:bodyPr wrap="square" lIns="0" tIns="0" rIns="0" bIns="0" rtlCol="0" anchor="ctr"/>
          <a:lstStyle/>
          <a:p>
            <a:pPr indent="0" marL="0">
              <a:buNone/>
            </a:pPr>
            <a:r>
              <a:rPr lang="en-US" sz="1200" dirty="0">
                <a:solidFill>
                  <a:srgbClr val="B9C6D6"/>
                </a:solidFill>
                <a:latin typeface="Calibri" pitchFamily="34" charset="0"/>
                <a:ea typeface="Calibri" pitchFamily="34" charset="-122"/>
                <a:cs typeface="Calibri" pitchFamily="34" charset="-120"/>
              </a:rPr>
              <a:t>le témoin — personne ne l'a demandé</a:t>
            </a:r>
            <a:endParaRPr lang="en-US" sz="1200" dirty="0"/>
          </a:p>
        </p:txBody>
      </p:sp>
      <p:sp>
        <p:nvSpPr>
          <p:cNvPr id="17" name="Shape 15"/>
          <p:cNvSpPr/>
          <p:nvPr/>
        </p:nvSpPr>
        <p:spPr>
          <a:xfrm>
            <a:off x="566928" y="4956048"/>
            <a:ext cx="10607040" cy="932688"/>
          </a:xfrm>
          <a:prstGeom prst="roundRect">
            <a:avLst>
              <a:gd name="adj" fmla="val 7843"/>
            </a:avLst>
          </a:prstGeom>
          <a:solidFill>
            <a:srgbClr val="1D3550"/>
          </a:solidFill>
          <a:ln w="12700">
            <a:solidFill>
              <a:srgbClr val="1D3550"/>
            </a:solidFill>
            <a:prstDash val="solid"/>
          </a:ln>
        </p:spPr>
      </p:sp>
      <p:sp>
        <p:nvSpPr>
          <p:cNvPr id="18" name="Text 16"/>
          <p:cNvSpPr/>
          <p:nvPr/>
        </p:nvSpPr>
        <p:spPr>
          <a:xfrm>
            <a:off x="822960" y="5120640"/>
            <a:ext cx="10094976"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Pourquoi le témoin ?  </a:t>
            </a:r>
            <a:pPr indent="0" marL="0">
              <a:buNone/>
            </a:pPr>
            <a:r>
              <a:rPr lang="en-US" sz="1350" dirty="0">
                <a:solidFill>
                  <a:srgbClr val="D5DEE8"/>
                </a:solidFill>
                <a:latin typeface="Calibri" pitchFamily="34" charset="0"/>
                <a:ea typeface="Calibri" pitchFamily="34" charset="-122"/>
                <a:cs typeface="Calibri" pitchFamily="34" charset="-120"/>
              </a:rPr>
              <a:t>Sans lui, un jury peut attribuer notre écart au protocole d'évaluation. Avec lui, la seule variable qui reste est le contenu des poids.</a:t>
            </a:r>
            <a:endParaRPr lang="en-US" sz="1350" dirty="0"/>
          </a:p>
        </p:txBody>
      </p:sp>
      <p:sp>
        <p:nvSpPr>
          <p:cNvPr id="19" name="Text 17"/>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8FA0B4"/>
                </a:solidFill>
                <a:latin typeface="Calibri" pitchFamily="34" charset="0"/>
                <a:ea typeface="Calibri" pitchFamily="34" charset="-122"/>
                <a:cs typeface="Calibri" pitchFamily="34" charset="-120"/>
              </a:rPr>
              <a:t>Athanase</a:t>
            </a:r>
            <a:endParaRPr lang="en-US" sz="1000" dirty="0"/>
          </a:p>
        </p:txBody>
      </p:sp>
      <p:sp>
        <p:nvSpPr>
          <p:cNvPr id="20" name="Text 18"/>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Contexte — 3 min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Protocole expérimental et prévention des fuites</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Le test officiel n'a été ouvert qu'une fois, à la toute fin, pour les chiffres publiés.</a:t>
            </a:r>
            <a:endParaRPr lang="en-US" sz="1400" dirty="0"/>
          </a:p>
        </p:txBody>
      </p:sp>
      <p:pic>
        <p:nvPicPr>
          <p:cNvPr id="4" name="Image 0" descr="/tmp/p10/fig/fig_protocole.png">    </p:cNvPr>
          <p:cNvPicPr>
            <a:picLocks noChangeAspect="1"/>
          </p:cNvPicPr>
          <p:nvPr/>
        </p:nvPicPr>
        <p:blipFill>
          <a:blip r:embed="rId1"/>
          <a:stretch>
            <a:fillRect/>
          </a:stretch>
        </p:blipFill>
        <p:spPr>
          <a:xfrm>
            <a:off x="566928" y="1466122"/>
            <a:ext cx="6903720" cy="3102796"/>
          </a:xfrm>
          <a:prstGeom prst="rect">
            <a:avLst/>
          </a:prstGeom>
        </p:spPr>
      </p:pic>
      <p:sp>
        <p:nvSpPr>
          <p:cNvPr id="5" name="Shape 2"/>
          <p:cNvSpPr/>
          <p:nvPr/>
        </p:nvSpPr>
        <p:spPr>
          <a:xfrm>
            <a:off x="7699248" y="1481328"/>
            <a:ext cx="3931920" cy="1024128"/>
          </a:xfrm>
          <a:prstGeom prst="roundRect">
            <a:avLst>
              <a:gd name="adj" fmla="val 7143"/>
            </a:avLst>
          </a:prstGeom>
          <a:solidFill>
            <a:srgbClr val="F4F6F9"/>
          </a:solidFill>
          <a:ln w="12700">
            <a:solidFill>
              <a:srgbClr val="DFE4EB"/>
            </a:solidFill>
            <a:prstDash val="solid"/>
          </a:ln>
        </p:spPr>
      </p:sp>
      <p:sp>
        <p:nvSpPr>
          <p:cNvPr id="6" name="Text 3"/>
          <p:cNvSpPr/>
          <p:nvPr/>
        </p:nvSpPr>
        <p:spPr>
          <a:xfrm>
            <a:off x="7918704" y="1600200"/>
            <a:ext cx="352044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Découpage stratifié</a:t>
            </a:r>
            <a:endParaRPr lang="en-US" sz="1350" dirty="0"/>
          </a:p>
        </p:txBody>
      </p:sp>
      <p:sp>
        <p:nvSpPr>
          <p:cNvPr id="7" name="Text 4"/>
          <p:cNvSpPr/>
          <p:nvPr/>
        </p:nvSpPr>
        <p:spPr>
          <a:xfrm>
            <a:off x="7918704" y="1883664"/>
            <a:ext cx="3520440" cy="54864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45 000 étiquetables / 5 000 validation, chaque classe à parts égales.</a:t>
            </a:r>
            <a:endParaRPr lang="en-US" sz="1150" dirty="0"/>
          </a:p>
        </p:txBody>
      </p:sp>
      <p:sp>
        <p:nvSpPr>
          <p:cNvPr id="8" name="Shape 5"/>
          <p:cNvSpPr/>
          <p:nvPr/>
        </p:nvSpPr>
        <p:spPr>
          <a:xfrm>
            <a:off x="7699248" y="2615184"/>
            <a:ext cx="3931920" cy="1024128"/>
          </a:xfrm>
          <a:prstGeom prst="roundRect">
            <a:avLst>
              <a:gd name="adj" fmla="val 7143"/>
            </a:avLst>
          </a:prstGeom>
          <a:solidFill>
            <a:srgbClr val="F4F6F9"/>
          </a:solidFill>
          <a:ln w="12700">
            <a:solidFill>
              <a:srgbClr val="DFE4EB"/>
            </a:solidFill>
            <a:prstDash val="solid"/>
          </a:ln>
        </p:spPr>
      </p:sp>
      <p:sp>
        <p:nvSpPr>
          <p:cNvPr id="9" name="Text 6"/>
          <p:cNvSpPr/>
          <p:nvPr/>
        </p:nvSpPr>
        <p:spPr>
          <a:xfrm>
            <a:off x="7918704" y="2734056"/>
            <a:ext cx="352044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Graine de découpage dédiée</a:t>
            </a:r>
            <a:endParaRPr lang="en-US" sz="1350" dirty="0"/>
          </a:p>
        </p:txBody>
      </p:sp>
      <p:sp>
        <p:nvSpPr>
          <p:cNvPr id="10" name="Text 7"/>
          <p:cNvSpPr/>
          <p:nvPr/>
        </p:nvSpPr>
        <p:spPr>
          <a:xfrm>
            <a:off x="7918704" y="3017520"/>
            <a:ext cx="3520440" cy="54864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7, distincte des graines d'expérience (42, 123, 2026), jamais refaite.</a:t>
            </a:r>
            <a:endParaRPr lang="en-US" sz="1150" dirty="0"/>
          </a:p>
        </p:txBody>
      </p:sp>
      <p:sp>
        <p:nvSpPr>
          <p:cNvPr id="11" name="Shape 8"/>
          <p:cNvSpPr/>
          <p:nvPr/>
        </p:nvSpPr>
        <p:spPr>
          <a:xfrm>
            <a:off x="7699248" y="3749040"/>
            <a:ext cx="3931920" cy="1024128"/>
          </a:xfrm>
          <a:prstGeom prst="roundRect">
            <a:avLst>
              <a:gd name="adj" fmla="val 7143"/>
            </a:avLst>
          </a:prstGeom>
          <a:solidFill>
            <a:srgbClr val="F4F6F9"/>
          </a:solidFill>
          <a:ln w="12700">
            <a:solidFill>
              <a:srgbClr val="DFE4EB"/>
            </a:solidFill>
            <a:prstDash val="solid"/>
          </a:ln>
        </p:spPr>
      </p:sp>
      <p:sp>
        <p:nvSpPr>
          <p:cNvPr id="12" name="Text 9"/>
          <p:cNvSpPr/>
          <p:nvPr/>
        </p:nvSpPr>
        <p:spPr>
          <a:xfrm>
            <a:off x="7918704" y="3867912"/>
            <a:ext cx="352044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Fractions emboîtées</a:t>
            </a:r>
            <a:endParaRPr lang="en-US" sz="1350" dirty="0"/>
          </a:p>
        </p:txBody>
      </p:sp>
      <p:sp>
        <p:nvSpPr>
          <p:cNvPr id="13" name="Text 10"/>
          <p:cNvSpPr/>
          <p:nvPr/>
        </p:nvSpPr>
        <p:spPr>
          <a:xfrm>
            <a:off x="7918704" y="4151376"/>
            <a:ext cx="3520440" cy="54864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les 450 sont incluses dans les 4 500, incluses dans les 45 000.</a:t>
            </a:r>
            <a:endParaRPr lang="en-US" sz="1150" dirty="0"/>
          </a:p>
        </p:txBody>
      </p:sp>
      <p:sp>
        <p:nvSpPr>
          <p:cNvPr id="14" name="Text 11"/>
          <p:cNvSpPr/>
          <p:nvPr/>
        </p:nvSpPr>
        <p:spPr>
          <a:xfrm>
            <a:off x="7699248" y="4937760"/>
            <a:ext cx="3931920" cy="822960"/>
          </a:xfrm>
          <a:prstGeom prst="rect">
            <a:avLst/>
          </a:prstGeom>
          <a:noFill/>
          <a:ln/>
        </p:spPr>
        <p:txBody>
          <a:bodyPr wrap="square" lIns="0" tIns="0" rIns="0" bIns="0" rtlCol="0" anchor="ctr"/>
          <a:lstStyle/>
          <a:p>
            <a:pPr indent="0" marL="0">
              <a:buNone/>
            </a:pPr>
            <a:r>
              <a:rPr lang="en-US" sz="1150" i="1" dirty="0">
                <a:solidFill>
                  <a:srgbClr val="7C828C"/>
                </a:solidFill>
                <a:latin typeface="Calibri" pitchFamily="34" charset="0"/>
                <a:ea typeface="Calibri" pitchFamily="34" charset="-122"/>
                <a:cs typeface="Calibri" pitchFamily="34" charset="-120"/>
              </a:rPr>
              <a:t>Vérifié automatiquement par scripts/inspecter_split_validation.py : le protocole refuse de valider si l'une des trois règles est violée.</a:t>
            </a:r>
            <a:endParaRPr lang="en-US" sz="1150" dirty="0"/>
          </a:p>
        </p:txBody>
      </p:sp>
      <p:sp>
        <p:nvSpPr>
          <p:cNvPr id="15" name="Text 12"/>
          <p:cNvSpPr/>
          <p:nvPr/>
        </p:nvSpPr>
        <p:spPr>
          <a:xfrm>
            <a:off x="566928" y="4846320"/>
            <a:ext cx="6903720" cy="640080"/>
          </a:xfrm>
          <a:prstGeom prst="rect">
            <a:avLst/>
          </a:prstGeom>
          <a:noFill/>
          <a:ln/>
        </p:spPr>
        <p:txBody>
          <a:bodyPr wrap="square" lIns="0" tIns="0" rIns="0" bIns="0" rtlCol="0" anchor="ctr"/>
          <a:lstStyle/>
          <a:p>
            <a:pPr indent="0" marL="0">
              <a:buNone/>
            </a:pPr>
            <a:r>
              <a:rPr lang="en-US" sz="1300" i="1" dirty="0">
                <a:solidFill>
                  <a:srgbClr val="4A4F58"/>
                </a:solidFill>
                <a:latin typeface="Calibri" pitchFamily="34" charset="0"/>
                <a:ea typeface="Calibri" pitchFamily="34" charset="-122"/>
                <a:cs typeface="Calibri" pitchFamily="34" charset="-120"/>
              </a:rPr>
              <a:t>Si chaque graine voyait une validation différente, l'écart-type que nous publions mélangerait deux sources de variation et ne voudrait plus rien dire.</a:t>
            </a:r>
            <a:endParaRPr lang="en-US" sz="1300" dirty="0"/>
          </a:p>
        </p:txBody>
      </p:sp>
      <p:sp>
        <p:nvSpPr>
          <p:cNvPr id="16" name="Text 13"/>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Rafiatou</a:t>
            </a:r>
            <a:endParaRPr lang="en-US" sz="1000" dirty="0"/>
          </a:p>
        </p:txBody>
      </p:sp>
      <p:sp>
        <p:nvSpPr>
          <p:cNvPr id="17" name="Text 14"/>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Méthode — 5 min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Encodeur, tête de projection et perte NT-Xent</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Implémentés à partir des équations du papier, pas repris d'une bibliothèque de haut niveau.</a:t>
            </a:r>
            <a:endParaRPr lang="en-US" sz="1400" dirty="0"/>
          </a:p>
        </p:txBody>
      </p:sp>
      <p:sp>
        <p:nvSpPr>
          <p:cNvPr id="4" name="Shape 2"/>
          <p:cNvSpPr/>
          <p:nvPr/>
        </p:nvSpPr>
        <p:spPr>
          <a:xfrm>
            <a:off x="566928" y="1481328"/>
            <a:ext cx="3529584" cy="2834640"/>
          </a:xfrm>
          <a:prstGeom prst="roundRect">
            <a:avLst>
              <a:gd name="adj" fmla="val 2581"/>
            </a:avLst>
          </a:prstGeom>
          <a:solidFill>
            <a:srgbClr val="F4F6F9"/>
          </a:solidFill>
          <a:ln w="12700">
            <a:solidFill>
              <a:srgbClr val="DFE4EB"/>
            </a:solidFill>
            <a:prstDash val="solid"/>
          </a:ln>
        </p:spPr>
      </p:sp>
      <p:sp>
        <p:nvSpPr>
          <p:cNvPr id="5" name="Shape 3"/>
          <p:cNvSpPr/>
          <p:nvPr/>
        </p:nvSpPr>
        <p:spPr>
          <a:xfrm>
            <a:off x="786384" y="1682496"/>
            <a:ext cx="347472" cy="347472"/>
          </a:xfrm>
          <a:prstGeom prst="ellipse">
            <a:avLst/>
          </a:prstGeom>
          <a:solidFill>
            <a:srgbClr val="2A78D6"/>
          </a:solidFill>
          <a:ln w="12700">
            <a:solidFill>
              <a:srgbClr val="2A78D6"/>
            </a:solidFill>
            <a:prstDash val="solid"/>
          </a:ln>
        </p:spPr>
      </p:sp>
      <p:sp>
        <p:nvSpPr>
          <p:cNvPr id="6" name="Text 4"/>
          <p:cNvSpPr/>
          <p:nvPr/>
        </p:nvSpPr>
        <p:spPr>
          <a:xfrm>
            <a:off x="786384" y="16824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25296" y="1664208"/>
            <a:ext cx="2651760" cy="292608"/>
          </a:xfrm>
          <a:prstGeom prst="rect">
            <a:avLst/>
          </a:prstGeom>
          <a:noFill/>
          <a:ln/>
        </p:spPr>
        <p:txBody>
          <a:bodyPr wrap="square" lIns="0" tIns="0" rIns="0" bIns="0" rtlCol="0" anchor="ctr"/>
          <a:lstStyle/>
          <a:p>
            <a:pPr indent="0" marL="0">
              <a:buNone/>
            </a:pPr>
            <a:r>
              <a:rPr lang="en-US" sz="1700" b="1" dirty="0">
                <a:solidFill>
                  <a:srgbClr val="10131A"/>
                </a:solidFill>
                <a:latin typeface="Cambria" pitchFamily="34" charset="0"/>
                <a:ea typeface="Cambria" pitchFamily="34" charset="-122"/>
                <a:cs typeface="Cambria" pitchFamily="34" charset="-120"/>
              </a:rPr>
              <a:t>Encodeur f</a:t>
            </a:r>
            <a:endParaRPr lang="en-US" sz="1700" dirty="0"/>
          </a:p>
        </p:txBody>
      </p:sp>
      <p:sp>
        <p:nvSpPr>
          <p:cNvPr id="8" name="Text 6"/>
          <p:cNvSpPr/>
          <p:nvPr/>
        </p:nvSpPr>
        <p:spPr>
          <a:xfrm>
            <a:off x="1225296" y="1956816"/>
            <a:ext cx="2651760" cy="256032"/>
          </a:xfrm>
          <a:prstGeom prst="rect">
            <a:avLst/>
          </a:prstGeom>
          <a:noFill/>
          <a:ln/>
        </p:spPr>
        <p:txBody>
          <a:bodyPr wrap="square" lIns="0" tIns="0" rIns="0" bIns="0" rtlCol="0" anchor="ctr"/>
          <a:lstStyle/>
          <a:p>
            <a:pPr indent="0" marL="0">
              <a:buNone/>
            </a:pPr>
            <a:r>
              <a:rPr lang="en-US" sz="1150" dirty="0">
                <a:solidFill>
                  <a:srgbClr val="2A78D6"/>
                </a:solidFill>
                <a:latin typeface="Calibri" pitchFamily="34" charset="0"/>
                <a:ea typeface="Calibri" pitchFamily="34" charset="-122"/>
                <a:cs typeface="Calibri" pitchFamily="34" charset="-120"/>
              </a:rPr>
              <a:t>ResNet-18 adapté au 32×32</a:t>
            </a:r>
            <a:endParaRPr lang="en-US" sz="1150" dirty="0"/>
          </a:p>
        </p:txBody>
      </p:sp>
      <p:sp>
        <p:nvSpPr>
          <p:cNvPr id="9" name="Text 7"/>
          <p:cNvSpPr/>
          <p:nvPr/>
        </p:nvSpPr>
        <p:spPr>
          <a:xfrm>
            <a:off x="804672" y="2340864"/>
            <a:ext cx="3054096" cy="18288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1re convolution 7×7 pas 2  →  3×3 pas 1</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max pooling  →  identité</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couche fc  →  identité, h ∈ ℝ⁵¹²</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 11,2 M paramètres</a:t>
            </a:r>
            <a:endParaRPr lang="en-US" sz="1200" dirty="0"/>
          </a:p>
        </p:txBody>
      </p:sp>
      <p:sp>
        <p:nvSpPr>
          <p:cNvPr id="10" name="Shape 8"/>
          <p:cNvSpPr/>
          <p:nvPr/>
        </p:nvSpPr>
        <p:spPr>
          <a:xfrm>
            <a:off x="4334256" y="1481328"/>
            <a:ext cx="3529584" cy="2834640"/>
          </a:xfrm>
          <a:prstGeom prst="roundRect">
            <a:avLst>
              <a:gd name="adj" fmla="val 2581"/>
            </a:avLst>
          </a:prstGeom>
          <a:solidFill>
            <a:srgbClr val="F4F6F9"/>
          </a:solidFill>
          <a:ln w="12700">
            <a:solidFill>
              <a:srgbClr val="DFE4EB"/>
            </a:solidFill>
            <a:prstDash val="solid"/>
          </a:ln>
        </p:spPr>
      </p:sp>
      <p:sp>
        <p:nvSpPr>
          <p:cNvPr id="11" name="Shape 9"/>
          <p:cNvSpPr/>
          <p:nvPr/>
        </p:nvSpPr>
        <p:spPr>
          <a:xfrm>
            <a:off x="4553712" y="1682496"/>
            <a:ext cx="347472" cy="347472"/>
          </a:xfrm>
          <a:prstGeom prst="ellipse">
            <a:avLst/>
          </a:prstGeom>
          <a:solidFill>
            <a:srgbClr val="EB6834"/>
          </a:solidFill>
          <a:ln w="12700">
            <a:solidFill>
              <a:srgbClr val="EB6834"/>
            </a:solidFill>
            <a:prstDash val="solid"/>
          </a:ln>
        </p:spPr>
      </p:sp>
      <p:sp>
        <p:nvSpPr>
          <p:cNvPr id="12" name="Text 10"/>
          <p:cNvSpPr/>
          <p:nvPr/>
        </p:nvSpPr>
        <p:spPr>
          <a:xfrm>
            <a:off x="4553712" y="16824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992624" y="1664208"/>
            <a:ext cx="2651760" cy="292608"/>
          </a:xfrm>
          <a:prstGeom prst="rect">
            <a:avLst/>
          </a:prstGeom>
          <a:noFill/>
          <a:ln/>
        </p:spPr>
        <p:txBody>
          <a:bodyPr wrap="square" lIns="0" tIns="0" rIns="0" bIns="0" rtlCol="0" anchor="ctr"/>
          <a:lstStyle/>
          <a:p>
            <a:pPr indent="0" marL="0">
              <a:buNone/>
            </a:pPr>
            <a:r>
              <a:rPr lang="en-US" sz="1700" b="1" dirty="0">
                <a:solidFill>
                  <a:srgbClr val="10131A"/>
                </a:solidFill>
                <a:latin typeface="Cambria" pitchFamily="34" charset="0"/>
                <a:ea typeface="Cambria" pitchFamily="34" charset="-122"/>
                <a:cs typeface="Cambria" pitchFamily="34" charset="-120"/>
              </a:rPr>
              <a:t>Tête g</a:t>
            </a:r>
            <a:endParaRPr lang="en-US" sz="1700" dirty="0"/>
          </a:p>
        </p:txBody>
      </p:sp>
      <p:sp>
        <p:nvSpPr>
          <p:cNvPr id="14" name="Text 12"/>
          <p:cNvSpPr/>
          <p:nvPr/>
        </p:nvSpPr>
        <p:spPr>
          <a:xfrm>
            <a:off x="4992624" y="1956816"/>
            <a:ext cx="2651760" cy="256032"/>
          </a:xfrm>
          <a:prstGeom prst="rect">
            <a:avLst/>
          </a:prstGeom>
          <a:noFill/>
          <a:ln/>
        </p:spPr>
        <p:txBody>
          <a:bodyPr wrap="square" lIns="0" tIns="0" rIns="0" bIns="0" rtlCol="0" anchor="ctr"/>
          <a:lstStyle/>
          <a:p>
            <a:pPr indent="0" marL="0">
              <a:buNone/>
            </a:pPr>
            <a:r>
              <a:rPr lang="en-US" sz="1150" dirty="0">
                <a:solidFill>
                  <a:srgbClr val="EB6834"/>
                </a:solidFill>
                <a:latin typeface="Calibri" pitchFamily="34" charset="0"/>
                <a:ea typeface="Calibri" pitchFamily="34" charset="-122"/>
                <a:cs typeface="Calibri" pitchFamily="34" charset="-120"/>
              </a:rPr>
              <a:t>MLP, jetée après le SSL</a:t>
            </a:r>
            <a:endParaRPr lang="en-US" sz="1150" dirty="0"/>
          </a:p>
        </p:txBody>
      </p:sp>
      <p:sp>
        <p:nvSpPr>
          <p:cNvPr id="15" name="Text 13"/>
          <p:cNvSpPr/>
          <p:nvPr/>
        </p:nvSpPr>
        <p:spPr>
          <a:xfrm>
            <a:off x="4572000" y="2340864"/>
            <a:ext cx="3054096" cy="18288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512 → 512 → 128, ReLU</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la perte s'applique sur z ∈ ℝ¹²⁸</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aucune évaluation aval ne l'utilise</a:t>
            </a:r>
            <a:endParaRPr lang="en-US" sz="1200" dirty="0"/>
          </a:p>
        </p:txBody>
      </p:sp>
      <p:sp>
        <p:nvSpPr>
          <p:cNvPr id="16" name="Shape 14"/>
          <p:cNvSpPr/>
          <p:nvPr/>
        </p:nvSpPr>
        <p:spPr>
          <a:xfrm>
            <a:off x="8101584" y="1481328"/>
            <a:ext cx="3529584" cy="2834640"/>
          </a:xfrm>
          <a:prstGeom prst="roundRect">
            <a:avLst>
              <a:gd name="adj" fmla="val 2581"/>
            </a:avLst>
          </a:prstGeom>
          <a:solidFill>
            <a:srgbClr val="F4F6F9"/>
          </a:solidFill>
          <a:ln w="12700">
            <a:solidFill>
              <a:srgbClr val="DFE4EB"/>
            </a:solidFill>
            <a:prstDash val="solid"/>
          </a:ln>
        </p:spPr>
      </p:sp>
      <p:sp>
        <p:nvSpPr>
          <p:cNvPr id="17" name="Shape 15"/>
          <p:cNvSpPr/>
          <p:nvPr/>
        </p:nvSpPr>
        <p:spPr>
          <a:xfrm>
            <a:off x="8321040" y="1682496"/>
            <a:ext cx="347472" cy="347472"/>
          </a:xfrm>
          <a:prstGeom prst="ellipse">
            <a:avLst/>
          </a:prstGeom>
          <a:solidFill>
            <a:srgbClr val="1BAF7A"/>
          </a:solidFill>
          <a:ln w="12700">
            <a:solidFill>
              <a:srgbClr val="1BAF7A"/>
            </a:solidFill>
            <a:prstDash val="solid"/>
          </a:ln>
        </p:spPr>
      </p:sp>
      <p:sp>
        <p:nvSpPr>
          <p:cNvPr id="18" name="Text 16"/>
          <p:cNvSpPr/>
          <p:nvPr/>
        </p:nvSpPr>
        <p:spPr>
          <a:xfrm>
            <a:off x="8321040" y="16824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59952" y="1664208"/>
            <a:ext cx="2651760" cy="292608"/>
          </a:xfrm>
          <a:prstGeom prst="rect">
            <a:avLst/>
          </a:prstGeom>
          <a:noFill/>
          <a:ln/>
        </p:spPr>
        <p:txBody>
          <a:bodyPr wrap="square" lIns="0" tIns="0" rIns="0" bIns="0" rtlCol="0" anchor="ctr"/>
          <a:lstStyle/>
          <a:p>
            <a:pPr indent="0" marL="0">
              <a:buNone/>
            </a:pPr>
            <a:r>
              <a:rPr lang="en-US" sz="1700" b="1" dirty="0">
                <a:solidFill>
                  <a:srgbClr val="10131A"/>
                </a:solidFill>
                <a:latin typeface="Cambria" pitchFamily="34" charset="0"/>
                <a:ea typeface="Cambria" pitchFamily="34" charset="-122"/>
                <a:cs typeface="Cambria" pitchFamily="34" charset="-120"/>
              </a:rPr>
              <a:t>Pré-entraînement</a:t>
            </a:r>
            <a:endParaRPr lang="en-US" sz="1700" dirty="0"/>
          </a:p>
        </p:txBody>
      </p:sp>
      <p:sp>
        <p:nvSpPr>
          <p:cNvPr id="20" name="Text 18"/>
          <p:cNvSpPr/>
          <p:nvPr/>
        </p:nvSpPr>
        <p:spPr>
          <a:xfrm>
            <a:off x="8759952" y="1956816"/>
            <a:ext cx="2651760" cy="256032"/>
          </a:xfrm>
          <a:prstGeom prst="rect">
            <a:avLst/>
          </a:prstGeom>
          <a:noFill/>
          <a:ln/>
        </p:spPr>
        <p:txBody>
          <a:bodyPr wrap="square" lIns="0" tIns="0" rIns="0" bIns="0" rtlCol="0" anchor="ctr"/>
          <a:lstStyle/>
          <a:p>
            <a:pPr indent="0" marL="0">
              <a:buNone/>
            </a:pPr>
            <a:r>
              <a:rPr lang="en-US" sz="1150" dirty="0">
                <a:solidFill>
                  <a:srgbClr val="1BAF7A"/>
                </a:solidFill>
                <a:latin typeface="Calibri" pitchFamily="34" charset="0"/>
                <a:ea typeface="Calibri" pitchFamily="34" charset="-122"/>
                <a:cs typeface="Calibri" pitchFamily="34" charset="-120"/>
              </a:rPr>
              <a:t>50 000 images, 0 label</a:t>
            </a:r>
            <a:endParaRPr lang="en-US" sz="1150" dirty="0"/>
          </a:p>
        </p:txBody>
      </p:sp>
      <p:sp>
        <p:nvSpPr>
          <p:cNvPr id="21" name="Text 19"/>
          <p:cNvSpPr/>
          <p:nvPr/>
        </p:nvSpPr>
        <p:spPr>
          <a:xfrm>
            <a:off x="8339328" y="2340864"/>
            <a:ext cx="3054096" cy="18288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100 époques, lot 256</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AdamW 3·10⁻⁴, wd 10⁻⁴</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échauffement 10 ép. puis cosinus</a:t>
            </a:r>
            <a:endParaRPr lang="en-US" sz="1200" dirty="0"/>
          </a:p>
          <a:p>
            <a:pPr marL="342900" indent="-342900">
              <a:spcAft>
                <a:spcPts val="500"/>
              </a:spcAft>
              <a:buSzPct val="100000"/>
              <a:buChar char="•"/>
            </a:pPr>
            <a:r>
              <a:rPr lang="en-US" sz="1200" dirty="0">
                <a:solidFill>
                  <a:srgbClr val="4A4F58"/>
                </a:solidFill>
                <a:latin typeface="Calibri" pitchFamily="34" charset="0"/>
                <a:ea typeface="Calibri" pitchFamily="34" charset="-122"/>
                <a:cs typeface="Calibri" pitchFamily="34" charset="-120"/>
              </a:rPr>
              <a:t>précision mixte, graine 42</a:t>
            </a:r>
            <a:endParaRPr lang="en-US" sz="1200" dirty="0"/>
          </a:p>
        </p:txBody>
      </p:sp>
      <p:sp>
        <p:nvSpPr>
          <p:cNvPr id="22" name="Shape 20"/>
          <p:cNvSpPr/>
          <p:nvPr/>
        </p:nvSpPr>
        <p:spPr>
          <a:xfrm>
            <a:off x="566928" y="4498848"/>
            <a:ext cx="11064240" cy="1572768"/>
          </a:xfrm>
          <a:prstGeom prst="roundRect">
            <a:avLst>
              <a:gd name="adj" fmla="val 4651"/>
            </a:avLst>
          </a:prstGeom>
          <a:solidFill>
            <a:srgbClr val="EAF2FC"/>
          </a:solidFill>
          <a:ln w="12700">
            <a:solidFill>
              <a:srgbClr val="2A78D6"/>
            </a:solidFill>
            <a:prstDash val="solid"/>
          </a:ln>
        </p:spPr>
      </p:sp>
      <p:sp>
        <p:nvSpPr>
          <p:cNvPr id="23" name="Text 21"/>
          <p:cNvSpPr/>
          <p:nvPr/>
        </p:nvSpPr>
        <p:spPr>
          <a:xfrm>
            <a:off x="841248" y="4626864"/>
            <a:ext cx="475488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NT-Xent — la perte contrastive</a:t>
            </a:r>
            <a:endParaRPr lang="en-US" sz="1200" dirty="0"/>
          </a:p>
        </p:txBody>
      </p:sp>
      <p:sp>
        <p:nvSpPr>
          <p:cNvPr id="24" name="Text 22"/>
          <p:cNvSpPr/>
          <p:nvPr/>
        </p:nvSpPr>
        <p:spPr>
          <a:xfrm>
            <a:off x="841248" y="4919472"/>
            <a:ext cx="5715000" cy="411480"/>
          </a:xfrm>
          <a:prstGeom prst="rect">
            <a:avLst/>
          </a:prstGeom>
          <a:noFill/>
          <a:ln/>
        </p:spPr>
        <p:txBody>
          <a:bodyPr wrap="square" lIns="0" tIns="0" rIns="0" bIns="0" rtlCol="0" anchor="ctr"/>
          <a:lstStyle/>
          <a:p>
            <a:pPr indent="0" marL="0">
              <a:buNone/>
            </a:pPr>
            <a:r>
              <a:rPr lang="en-US" sz="1600" b="1" dirty="0">
                <a:solidFill>
                  <a:srgbClr val="10131A"/>
                </a:solidFill>
                <a:latin typeface="Cambria" pitchFamily="34" charset="0"/>
                <a:ea typeface="Cambria" pitchFamily="34" charset="-122"/>
                <a:cs typeface="Cambria" pitchFamily="34" charset="-120"/>
              </a:rPr>
              <a:t>ℒᵢ  =  − log [ exp(sim(zᵢ, zⱼ)/τ)  /  Σ ₖ≠ᵢ exp(sim(zᵢ, zₖ)/τ) ]</a:t>
            </a:r>
            <a:endParaRPr lang="en-US" sz="1600" dirty="0"/>
          </a:p>
        </p:txBody>
      </p:sp>
      <p:sp>
        <p:nvSpPr>
          <p:cNvPr id="25" name="Text 23"/>
          <p:cNvSpPr/>
          <p:nvPr/>
        </p:nvSpPr>
        <p:spPr>
          <a:xfrm>
            <a:off x="841248" y="5376672"/>
            <a:ext cx="5715000" cy="548640"/>
          </a:xfrm>
          <a:prstGeom prst="rect">
            <a:avLst/>
          </a:prstGeom>
          <a:noFill/>
          <a:ln/>
        </p:spPr>
        <p:txBody>
          <a:bodyPr wrap="square" lIns="0" tIns="0" rIns="0" bIns="0" rtlCol="0" anchor="ctr"/>
          <a:lstStyle/>
          <a:p>
            <a:pPr indent="0" marL="0">
              <a:buNone/>
            </a:pPr>
            <a:r>
              <a:rPr lang="en-US" sz="1200" dirty="0">
                <a:solidFill>
                  <a:srgbClr val="4A4F58"/>
                </a:solidFill>
                <a:latin typeface="Calibri" pitchFamily="34" charset="0"/>
                <a:ea typeface="Calibri" pitchFamily="34" charset="-122"/>
                <a:cs typeface="Calibri" pitchFamily="34" charset="-120"/>
              </a:rPr>
              <a:t>τ = 0,5. Le dénominateur parcourt les 2N−1 autres vues du lot : à lot 256, 510 négatifs par ancre. Aucun échantillonnage explicite de négatifs.</a:t>
            </a:r>
            <a:endParaRPr lang="en-US" sz="1200" dirty="0"/>
          </a:p>
        </p:txBody>
      </p:sp>
      <p:sp>
        <p:nvSpPr>
          <p:cNvPr id="26" name="Text 24"/>
          <p:cNvSpPr/>
          <p:nvPr/>
        </p:nvSpPr>
        <p:spPr>
          <a:xfrm>
            <a:off x="6903720" y="4626864"/>
            <a:ext cx="4617720" cy="1325880"/>
          </a:xfrm>
          <a:prstGeom prst="rect">
            <a:avLst/>
          </a:prstGeom>
          <a:noFill/>
          <a:ln/>
        </p:spPr>
        <p:txBody>
          <a:bodyPr wrap="square" lIns="0" tIns="0" rIns="0" bIns="0" rtlCol="0" anchor="ctr"/>
          <a:lstStyle/>
          <a:p>
            <a:pPr indent="0" marL="0">
              <a:buNone/>
            </a:pPr>
            <a:r>
              <a:rPr lang="en-US" sz="1200" b="1" dirty="0">
                <a:solidFill>
                  <a:srgbClr val="2A78D6"/>
                </a:solidFill>
                <a:latin typeface="Calibri" pitchFamily="34" charset="0"/>
                <a:ea typeface="Calibri" pitchFamily="34" charset="-122"/>
                <a:cs typeface="Calibri" pitchFamily="34" charset="-120"/>
              </a:rPr>
              <a:t>Notre implémentation</a:t>
            </a:r>
            <a:endParaRPr lang="en-US" sz="1200" dirty="0"/>
          </a:p>
          <a:p>
            <a:pPr indent="0" marL="0">
              <a:buNone/>
            </a:pPr>
            <a:r>
              <a:rPr lang="en-US" sz="1200" dirty="0">
                <a:solidFill>
                  <a:srgbClr val="4A4F58"/>
                </a:solidFill>
                <a:latin typeface="Calibri" pitchFamily="34" charset="0"/>
                <a:ea typeface="Calibri" pitchFamily="34" charset="-122"/>
                <a:cs typeface="Calibri" pitchFamily="34" charset="-120"/>
              </a:rPr>
              <a:t>L'équation EST une entropie croisée : on retire la diagonale de la matrice de similarités, chaque ligne devient 2N−1 scores dont la cible est la position du positif, et F.cross_entropy fait le reste.</a:t>
            </a:r>
            <a:endParaRPr lang="en-US" sz="1200" dirty="0"/>
          </a:p>
        </p:txBody>
      </p:sp>
      <p:sp>
        <p:nvSpPr>
          <p:cNvPr id="27" name="Text 25"/>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28" name="Text 26"/>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Méthode — 5 min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La comparaison est appariée, et c'est vérifiable</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Le piège classique : opposer deux méthodes qui n'ont pas reçu le même budget d'entraînement.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3200400"/>
                <a:gridCol w="3931920"/>
                <a:gridCol w="3931920"/>
              </a:tblGrid>
              <a:tr h="384048">
                <a:tc>
                  <a:txBody>
                    <a:bodyPr/>
                    <a:lstStyle/>
                    <a:p>
                      <a:pPr indent="0" marL="0">
                        <a:buNone/>
                      </a:pP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A78D6"/>
                          </a:solidFill>
                          <a:latin typeface="Calibri" pitchFamily="34" charset="0"/>
                          <a:ea typeface="Calibri" pitchFamily="34" charset="-122"/>
                          <a:cs typeface="Calibri" pitchFamily="34" charset="-120"/>
                        </a:rPr>
                        <a:t>Fine-tuning SimCLR</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l" indent="0" marL="0">
                        <a:buNone/>
                      </a:pPr>
                      <a:r>
                        <a:rPr lang="en-US" sz="1250" b="1" dirty="0">
                          <a:solidFill>
                            <a:srgbClr val="EB6834"/>
                          </a:solidFill>
                          <a:latin typeface="Calibri" pitchFamily="34" charset="0"/>
                          <a:ea typeface="Calibri" pitchFamily="34" charset="-122"/>
                          <a:cs typeface="Calibri" pitchFamily="34" charset="-120"/>
                        </a:rPr>
                        <a:t>Supervisé from scratch</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Époques</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Taille de lot</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256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256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Optimiseur</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SGD, momentum 0,9, Nesterov</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SGD, momentum 0,9, Nesterov</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Taux d'apprentissage</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0,03  (cosinus → 10⁻⁴)</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0,03  (cosinus → 10⁻⁴)</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Weight decay</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5·10⁻⁴</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5·10⁻⁴</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Augmentations</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RandomCrop(32, pad=4) + Flip</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RandomCrop(32, pad=4) + Flip</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Découpage / graines</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seed_split 7 ; 42, 123, 2026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seed_split 7 ; 42, 123, 2026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384048">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Initialisation de l'encodeur</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b="1" dirty="0">
                          <a:solidFill>
                            <a:srgbClr val="2A78D6"/>
                          </a:solidFill>
                          <a:latin typeface="Calibri" pitchFamily="34" charset="0"/>
                          <a:ea typeface="Calibri" pitchFamily="34" charset="-122"/>
                          <a:cs typeface="Calibri" pitchFamily="34" charset="-120"/>
                        </a:rPr>
                        <a:t>poids pré-entraînés (SSL)</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poids aléatoires</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bl>
          </a:graphicData>
        </a:graphic>
      </p:graphicFrame>
      <p:sp>
        <p:nvSpPr>
          <p:cNvPr id="5" name="Shape 2"/>
          <p:cNvSpPr/>
          <p:nvPr/>
        </p:nvSpPr>
        <p:spPr>
          <a:xfrm>
            <a:off x="566928" y="5120640"/>
            <a:ext cx="11064240" cy="914400"/>
          </a:xfrm>
          <a:prstGeom prst="roundRect">
            <a:avLst>
              <a:gd name="adj" fmla="val 8000"/>
            </a:avLst>
          </a:prstGeom>
          <a:solidFill>
            <a:srgbClr val="EAF7F1"/>
          </a:solidFill>
          <a:ln w="12700">
            <a:solidFill>
              <a:srgbClr val="1BAF7A"/>
            </a:solidFill>
            <a:prstDash val="solid"/>
          </a:ln>
        </p:spPr>
      </p:sp>
      <p:sp>
        <p:nvSpPr>
          <p:cNvPr id="6" name="Text 3"/>
          <p:cNvSpPr/>
          <p:nvPr/>
        </p:nvSpPr>
        <p:spPr>
          <a:xfrm>
            <a:off x="841248" y="5285232"/>
            <a:ext cx="10515600" cy="603504"/>
          </a:xfrm>
          <a:prstGeom prst="rect">
            <a:avLst/>
          </a:prstGeom>
          <a:noFill/>
          <a:ln/>
        </p:spPr>
        <p:txBody>
          <a:bodyPr wrap="square" lIns="0" tIns="0" rIns="0" bIns="0" rtlCol="0" anchor="ctr"/>
          <a:lstStyle/>
          <a:p>
            <a:pPr indent="0" marL="0">
              <a:buNone/>
            </a:pPr>
            <a:r>
              <a:rPr lang="en-US" sz="1350" b="1" dirty="0">
                <a:solidFill>
                  <a:srgbClr val="1BAF7A"/>
                </a:solidFill>
                <a:latin typeface="Calibri" pitchFamily="34" charset="0"/>
                <a:ea typeface="Calibri" pitchFamily="34" charset="-122"/>
                <a:cs typeface="Calibri" pitchFamily="34" charset="-120"/>
              </a:rPr>
              <a:t>Une seule ligne diffère.  </a:t>
            </a:r>
            <a:pPr indent="0" marL="0">
              <a:buNone/>
            </a:pPr>
            <a:r>
              <a:rPr lang="en-US" sz="1350" dirty="0">
                <a:solidFill>
                  <a:srgbClr val="10131A"/>
                </a:solidFill>
                <a:latin typeface="Calibri" pitchFamily="34" charset="0"/>
                <a:ea typeface="Calibri" pitchFamily="34" charset="-122"/>
                <a:cs typeface="Calibri" pitchFamily="34" charset="-120"/>
              </a:rPr>
              <a:t>Ces valeurs sont lues dans les fichiers resultats.json produits par les runs eux-mêmes — nous pouvons les afficher pendant les questions.</a:t>
            </a:r>
            <a:endParaRPr lang="en-US" sz="1350" dirty="0"/>
          </a:p>
        </p:txBody>
      </p:sp>
      <p:sp>
        <p:nvSpPr>
          <p:cNvPr id="7" name="Text 4"/>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Rafiatou</a:t>
            </a:r>
            <a:endParaRPr lang="en-US" sz="1000" dirty="0"/>
          </a:p>
        </p:txBody>
      </p:sp>
      <p:sp>
        <p:nvSpPr>
          <p:cNvPr id="8" name="Text 5"/>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Méthode — 5 min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Un seul hyperparamètre réglé, et réglé symétriquement</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La même grille balayée pour les deux méthodes, sur la validation, au régime 10 % des labels.</a:t>
            </a:r>
            <a:endParaRPr lang="en-US" sz="1400" dirty="0"/>
          </a:p>
        </p:txBody>
      </p:sp>
      <p:pic>
        <p:nvPicPr>
          <p:cNvPr id="4" name="Image 0" descr="/tmp/p10/fig/fig_lr.png">    </p:cNvPr>
          <p:cNvPicPr>
            <a:picLocks noChangeAspect="1"/>
          </p:cNvPicPr>
          <p:nvPr/>
        </p:nvPicPr>
        <p:blipFill>
          <a:blip r:embed="rId1"/>
          <a:stretch>
            <a:fillRect/>
          </a:stretch>
        </p:blipFill>
        <p:spPr>
          <a:xfrm>
            <a:off x="566928" y="1555479"/>
            <a:ext cx="6675120" cy="3838482"/>
          </a:xfrm>
          <a:prstGeom prst="rect">
            <a:avLst/>
          </a:prstGeom>
        </p:spPr>
      </p:pic>
      <p:sp>
        <p:nvSpPr>
          <p:cNvPr id="5" name="Shape 2"/>
          <p:cNvSpPr/>
          <p:nvPr/>
        </p:nvSpPr>
        <p:spPr>
          <a:xfrm>
            <a:off x="7534656" y="1572768"/>
            <a:ext cx="4096512" cy="1207008"/>
          </a:xfrm>
          <a:prstGeom prst="roundRect">
            <a:avLst>
              <a:gd name="adj" fmla="val 6061"/>
            </a:avLst>
          </a:prstGeom>
          <a:solidFill>
            <a:srgbClr val="F4F6F9"/>
          </a:solidFill>
          <a:ln w="12700">
            <a:solidFill>
              <a:srgbClr val="DFE4EB"/>
            </a:solidFill>
            <a:prstDash val="solid"/>
          </a:ln>
        </p:spPr>
      </p:sp>
      <p:sp>
        <p:nvSpPr>
          <p:cNvPr id="6" name="Text 3"/>
          <p:cNvSpPr/>
          <p:nvPr/>
        </p:nvSpPr>
        <p:spPr>
          <a:xfrm>
            <a:off x="7772400" y="1719072"/>
            <a:ext cx="3657600" cy="27432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Même grille pour les deux</a:t>
            </a:r>
            <a:endParaRPr lang="en-US" sz="1400" dirty="0"/>
          </a:p>
        </p:txBody>
      </p:sp>
      <p:sp>
        <p:nvSpPr>
          <p:cNvPr id="7" name="Text 4"/>
          <p:cNvSpPr/>
          <p:nvPr/>
        </p:nvSpPr>
        <p:spPr>
          <a:xfrm>
            <a:off x="7772400" y="2029968"/>
            <a:ext cx="3657600" cy="64008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{0,2 ; 0,1 ; 0,03 ; 0,01 ; 0,003} — aucune méthode ne bénéficie d'un avantage de réglage.</a:t>
            </a:r>
            <a:endParaRPr lang="en-US" sz="1150" dirty="0"/>
          </a:p>
        </p:txBody>
      </p:sp>
      <p:sp>
        <p:nvSpPr>
          <p:cNvPr id="8" name="Shape 5"/>
          <p:cNvSpPr/>
          <p:nvPr/>
        </p:nvSpPr>
        <p:spPr>
          <a:xfrm>
            <a:off x="7534656" y="2907792"/>
            <a:ext cx="4096512" cy="1207008"/>
          </a:xfrm>
          <a:prstGeom prst="roundRect">
            <a:avLst>
              <a:gd name="adj" fmla="val 6061"/>
            </a:avLst>
          </a:prstGeom>
          <a:solidFill>
            <a:srgbClr val="F4F6F9"/>
          </a:solidFill>
          <a:ln w="12700">
            <a:solidFill>
              <a:srgbClr val="DFE4EB"/>
            </a:solidFill>
            <a:prstDash val="solid"/>
          </a:ln>
        </p:spPr>
      </p:sp>
      <p:sp>
        <p:nvSpPr>
          <p:cNvPr id="9" name="Text 6"/>
          <p:cNvSpPr/>
          <p:nvPr/>
        </p:nvSpPr>
        <p:spPr>
          <a:xfrm>
            <a:off x="7772400" y="3054096"/>
            <a:ext cx="3657600" cy="274320"/>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Même optimum : 0,03</a:t>
            </a:r>
            <a:endParaRPr lang="en-US" sz="1400" dirty="0"/>
          </a:p>
        </p:txBody>
      </p:sp>
      <p:sp>
        <p:nvSpPr>
          <p:cNvPr id="10" name="Text 7"/>
          <p:cNvSpPr/>
          <p:nvPr/>
        </p:nvSpPr>
        <p:spPr>
          <a:xfrm>
            <a:off x="7772400" y="3364992"/>
            <a:ext cx="3657600" cy="64008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les deux courbes culminent au même point. Nous retenons cette valeur pour les deux bras.</a:t>
            </a:r>
            <a:endParaRPr lang="en-US" sz="1150" dirty="0"/>
          </a:p>
        </p:txBody>
      </p:sp>
      <p:sp>
        <p:nvSpPr>
          <p:cNvPr id="11" name="Shape 8"/>
          <p:cNvSpPr/>
          <p:nvPr/>
        </p:nvSpPr>
        <p:spPr>
          <a:xfrm>
            <a:off x="7534656" y="4242816"/>
            <a:ext cx="4096512" cy="1207008"/>
          </a:xfrm>
          <a:prstGeom prst="roundRect">
            <a:avLst>
              <a:gd name="adj" fmla="val 6061"/>
            </a:avLst>
          </a:prstGeom>
          <a:solidFill>
            <a:srgbClr val="F4F6F9"/>
          </a:solidFill>
          <a:ln w="12700">
            <a:solidFill>
              <a:srgbClr val="DFE4EB"/>
            </a:solidFill>
            <a:prstDash val="solid"/>
          </a:ln>
        </p:spPr>
      </p:sp>
      <p:sp>
        <p:nvSpPr>
          <p:cNvPr id="12" name="Text 9"/>
          <p:cNvSpPr/>
          <p:nvPr/>
        </p:nvSpPr>
        <p:spPr>
          <a:xfrm>
            <a:off x="7772400" y="4389120"/>
            <a:ext cx="3657600"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La grille encadre l'optimum</a:t>
            </a:r>
            <a:endParaRPr lang="en-US" sz="1400" dirty="0"/>
          </a:p>
        </p:txBody>
      </p:sp>
      <p:sp>
        <p:nvSpPr>
          <p:cNvPr id="13" name="Text 10"/>
          <p:cNvSpPr/>
          <p:nvPr/>
        </p:nvSpPr>
        <p:spPr>
          <a:xfrm>
            <a:off x="7772400" y="4700016"/>
            <a:ext cx="3657600" cy="640080"/>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0,2 fait s'effondrer les deux méthodes : nous ne nous sommes pas arrêtés à la frontière.</a:t>
            </a:r>
            <a:endParaRPr lang="en-US" sz="1150" dirty="0"/>
          </a:p>
        </p:txBody>
      </p:sp>
      <p:sp>
        <p:nvSpPr>
          <p:cNvPr id="14" name="Text 11"/>
          <p:cNvSpPr/>
          <p:nvPr/>
        </p:nvSpPr>
        <p:spPr>
          <a:xfrm>
            <a:off x="7534656" y="5559552"/>
            <a:ext cx="4096512" cy="548640"/>
          </a:xfrm>
          <a:prstGeom prst="rect">
            <a:avLst/>
          </a:prstGeom>
          <a:noFill/>
          <a:ln/>
        </p:spPr>
        <p:txBody>
          <a:bodyPr wrap="square" lIns="0" tIns="0" rIns="0" bIns="0" rtlCol="0" anchor="ctr"/>
          <a:lstStyle/>
          <a:p>
            <a:pPr indent="0" marL="0">
              <a:buNone/>
            </a:pPr>
            <a:r>
              <a:rPr lang="en-US" sz="1150" i="1" dirty="0">
                <a:solidFill>
                  <a:srgbClr val="7C828C"/>
                </a:solidFill>
                <a:latin typeface="Calibri" pitchFamily="34" charset="0"/>
                <a:ea typeface="Calibri" pitchFamily="34" charset="-122"/>
                <a:cs typeface="Calibri" pitchFamily="34" charset="-120"/>
              </a:rPr>
              <a:t>Limite assumée : réglé à 10 % des labels, puis transféré aux trois régimes. Nous y revenons.</a:t>
            </a:r>
            <a:endParaRPr lang="en-US" sz="1150" dirty="0"/>
          </a:p>
        </p:txBody>
      </p:sp>
      <p:sp>
        <p:nvSpPr>
          <p:cNvPr id="15" name="Text 12"/>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Rafiatou</a:t>
            </a:r>
            <a:endParaRPr lang="en-US" sz="1000" dirty="0"/>
          </a:p>
        </p:txBody>
      </p:sp>
      <p:sp>
        <p:nvSpPr>
          <p:cNvPr id="16" name="Text 13"/>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Méthode — 5 min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566928" y="2395728"/>
            <a:ext cx="640080" cy="640080"/>
          </a:xfrm>
          <a:prstGeom prst="ellipse">
            <a:avLst/>
          </a:prstGeom>
          <a:solidFill>
            <a:srgbClr val="2A78D6"/>
          </a:solidFill>
          <a:ln w="12700">
            <a:solidFill>
              <a:srgbClr val="2A78D6"/>
            </a:solidFill>
            <a:prstDash val="solid"/>
          </a:ln>
        </p:spPr>
      </p:sp>
      <p:sp>
        <p:nvSpPr>
          <p:cNvPr id="3" name="Text 1"/>
          <p:cNvSpPr/>
          <p:nvPr/>
        </p:nvSpPr>
        <p:spPr>
          <a:xfrm>
            <a:off x="566928" y="239572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4" name="Text 2"/>
          <p:cNvSpPr/>
          <p:nvPr/>
        </p:nvSpPr>
        <p:spPr>
          <a:xfrm>
            <a:off x="1481328" y="228600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Résultats</a:t>
            </a:r>
            <a:endParaRPr lang="en-US" sz="4400" dirty="0"/>
          </a:p>
        </p:txBody>
      </p:sp>
      <p:sp>
        <p:nvSpPr>
          <p:cNvPr id="5" name="Text 3"/>
          <p:cNvSpPr/>
          <p:nvPr/>
        </p:nvSpPr>
        <p:spPr>
          <a:xfrm>
            <a:off x="1481328" y="3145536"/>
            <a:ext cx="9144000" cy="365760"/>
          </a:xfrm>
          <a:prstGeom prst="rect">
            <a:avLst/>
          </a:prstGeom>
          <a:noFill/>
          <a:ln/>
        </p:spPr>
        <p:txBody>
          <a:bodyPr wrap="square" lIns="0" tIns="0" rIns="0" bIns="0" rtlCol="0" anchor="ctr"/>
          <a:lstStyle/>
          <a:p>
            <a:pPr indent="0" marL="0">
              <a:buNone/>
            </a:pPr>
            <a:r>
              <a:rPr lang="en-US" sz="1600" dirty="0">
                <a:solidFill>
                  <a:srgbClr val="6DA7EC"/>
                </a:solidFill>
                <a:latin typeface="Calibri" pitchFamily="34" charset="0"/>
                <a:ea typeface="Calibri" pitchFamily="34" charset="-122"/>
                <a:cs typeface="Calibri" pitchFamily="34" charset="-120"/>
              </a:rPr>
              <a:t>La courbe accuracy / % de labels, les quatre bras, et ce que le témoin établit.</a:t>
            </a:r>
            <a:endParaRPr lang="en-US" sz="1600" dirty="0"/>
          </a:p>
        </p:txBody>
      </p:sp>
      <p:sp>
        <p:nvSpPr>
          <p:cNvPr id="6" name="Text 4"/>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8FA0B4"/>
                </a:solidFill>
                <a:latin typeface="Calibri" pitchFamily="34" charset="0"/>
                <a:ea typeface="Calibri" pitchFamily="34" charset="-122"/>
                <a:cs typeface="Calibri" pitchFamily="34" charset="-120"/>
              </a:rPr>
              <a:t>Kossiko</a:t>
            </a:r>
            <a:endParaRPr lang="en-US" sz="1000" dirty="0"/>
          </a:p>
        </p:txBody>
      </p:sp>
      <p:sp>
        <p:nvSpPr>
          <p:cNvPr id="7" name="Text 5"/>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Le résultat central : accuracy en fonction du nombre de labels</a:t>
            </a:r>
            <a:endParaRPr lang="en-US" sz="3000" dirty="0"/>
          </a:p>
        </p:txBody>
      </p:sp>
      <p:pic>
        <p:nvPicPr>
          <p:cNvPr id="3" name="Image 0" descr="/tmp/p10/fig/fig_accuracy_labels.png">    </p:cNvPr>
          <p:cNvPicPr>
            <a:picLocks noChangeAspect="1"/>
          </p:cNvPicPr>
          <p:nvPr/>
        </p:nvPicPr>
        <p:blipFill>
          <a:blip r:embed="rId1"/>
          <a:stretch>
            <a:fillRect/>
          </a:stretch>
        </p:blipFill>
        <p:spPr>
          <a:xfrm>
            <a:off x="320040" y="1434039"/>
            <a:ext cx="7223760" cy="4236809"/>
          </a:xfrm>
          <a:prstGeom prst="rect">
            <a:avLst/>
          </a:prstGeom>
        </p:spPr>
      </p:pic>
      <p:sp>
        <p:nvSpPr>
          <p:cNvPr id="4" name="Shape 1"/>
          <p:cNvSpPr/>
          <p:nvPr/>
        </p:nvSpPr>
        <p:spPr>
          <a:xfrm>
            <a:off x="7772400" y="1188720"/>
            <a:ext cx="3840480" cy="1371600"/>
          </a:xfrm>
          <a:prstGeom prst="roundRect">
            <a:avLst>
              <a:gd name="adj" fmla="val 5333"/>
            </a:avLst>
          </a:prstGeom>
          <a:solidFill>
            <a:srgbClr val="F4F6F9"/>
          </a:solidFill>
          <a:ln w="12700">
            <a:solidFill>
              <a:srgbClr val="DFE4EB"/>
            </a:solidFill>
            <a:prstDash val="solid"/>
          </a:ln>
        </p:spPr>
      </p:sp>
      <p:sp>
        <p:nvSpPr>
          <p:cNvPr id="5" name="Text 2"/>
          <p:cNvSpPr/>
          <p:nvPr/>
        </p:nvSpPr>
        <p:spPr>
          <a:xfrm>
            <a:off x="7909560" y="1316736"/>
            <a:ext cx="3566160" cy="713232"/>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+32,58</a:t>
            </a:r>
            <a:endParaRPr lang="en-US" sz="4000" dirty="0"/>
          </a:p>
        </p:txBody>
      </p:sp>
      <p:sp>
        <p:nvSpPr>
          <p:cNvPr id="6" name="Text 3"/>
          <p:cNvSpPr/>
          <p:nvPr/>
        </p:nvSpPr>
        <p:spPr>
          <a:xfrm>
            <a:off x="7909560" y="2029968"/>
            <a:ext cx="3566160" cy="475488"/>
          </a:xfrm>
          <a:prstGeom prst="rect">
            <a:avLst/>
          </a:prstGeom>
          <a:noFill/>
          <a:ln/>
        </p:spPr>
        <p:txBody>
          <a:bodyPr wrap="square" lIns="0" tIns="0" rIns="0" bIns="0" rtlCol="0" anchor="t"/>
          <a:lstStyle/>
          <a:p>
            <a:pPr algn="ctr" indent="0" marL="0">
              <a:buNone/>
            </a:pPr>
            <a:r>
              <a:rPr lang="en-US" sz="1150" dirty="0">
                <a:solidFill>
                  <a:srgbClr val="4A4F58"/>
                </a:solidFill>
                <a:latin typeface="Calibri" pitchFamily="34" charset="0"/>
                <a:ea typeface="Calibri" pitchFamily="34" charset="-122"/>
                <a:cs typeface="Calibri" pitchFamily="34" charset="-120"/>
              </a:rPr>
              <a:t>points gagnés avec 450 labels</a:t>
            </a:r>
            <a:endParaRPr lang="en-US" sz="1150" dirty="0"/>
          </a:p>
          <a:p>
            <a:pPr algn="ctr" indent="0" marL="0">
              <a:buNone/>
            </a:pPr>
            <a:r>
              <a:rPr lang="en-US" sz="1150" dirty="0">
                <a:solidFill>
                  <a:srgbClr val="4A4F58"/>
                </a:solidFill>
                <a:latin typeface="Calibri" pitchFamily="34" charset="0"/>
                <a:ea typeface="Calibri" pitchFamily="34" charset="-122"/>
                <a:cs typeface="Calibri" pitchFamily="34" charset="-120"/>
              </a:rPr>
              <a:t>(39,52 % → 72,10 %)</a:t>
            </a:r>
            <a:endParaRPr lang="en-US" sz="1150" dirty="0"/>
          </a:p>
        </p:txBody>
      </p:sp>
      <p:sp>
        <p:nvSpPr>
          <p:cNvPr id="7" name="Shape 4"/>
          <p:cNvSpPr/>
          <p:nvPr/>
        </p:nvSpPr>
        <p:spPr>
          <a:xfrm>
            <a:off x="7772400" y="2724912"/>
            <a:ext cx="3840480" cy="1371600"/>
          </a:xfrm>
          <a:prstGeom prst="roundRect">
            <a:avLst>
              <a:gd name="adj" fmla="val 5333"/>
            </a:avLst>
          </a:prstGeom>
          <a:solidFill>
            <a:srgbClr val="F4F6F9"/>
          </a:solidFill>
          <a:ln w="12700">
            <a:solidFill>
              <a:srgbClr val="DFE4EB"/>
            </a:solidFill>
            <a:prstDash val="solid"/>
          </a:ln>
        </p:spPr>
      </p:sp>
      <p:sp>
        <p:nvSpPr>
          <p:cNvPr id="8" name="Text 5"/>
          <p:cNvSpPr/>
          <p:nvPr/>
        </p:nvSpPr>
        <p:spPr>
          <a:xfrm>
            <a:off x="7909560" y="2852928"/>
            <a:ext cx="3566160" cy="713232"/>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×10</a:t>
            </a:r>
            <a:endParaRPr lang="en-US" sz="4000" dirty="0"/>
          </a:p>
        </p:txBody>
      </p:sp>
      <p:sp>
        <p:nvSpPr>
          <p:cNvPr id="9" name="Text 6"/>
          <p:cNvSpPr/>
          <p:nvPr/>
        </p:nvSpPr>
        <p:spPr>
          <a:xfrm>
            <a:off x="7909560" y="3566160"/>
            <a:ext cx="3566160" cy="475488"/>
          </a:xfrm>
          <a:prstGeom prst="rect">
            <a:avLst/>
          </a:prstGeom>
          <a:noFill/>
          <a:ln/>
        </p:spPr>
        <p:txBody>
          <a:bodyPr wrap="square" lIns="0" tIns="0" rIns="0" bIns="0" rtlCol="0" anchor="t"/>
          <a:lstStyle/>
          <a:p>
            <a:pPr algn="ctr" indent="0" marL="0">
              <a:buNone/>
            </a:pPr>
            <a:r>
              <a:rPr lang="en-US" sz="1150" dirty="0">
                <a:solidFill>
                  <a:srgbClr val="4A4F58"/>
                </a:solidFill>
                <a:latin typeface="Calibri" pitchFamily="34" charset="0"/>
                <a:ea typeface="Calibri" pitchFamily="34" charset="-122"/>
                <a:cs typeface="Calibri" pitchFamily="34" charset="-120"/>
              </a:rPr>
              <a:t>de labels en moins pour la même</a:t>
            </a:r>
            <a:endParaRPr lang="en-US" sz="1150" dirty="0"/>
          </a:p>
          <a:p>
            <a:pPr algn="ctr" indent="0" marL="0">
              <a:buNone/>
            </a:pPr>
            <a:r>
              <a:rPr lang="en-US" sz="1150" dirty="0">
                <a:solidFill>
                  <a:srgbClr val="4A4F58"/>
                </a:solidFill>
                <a:latin typeface="Calibri" pitchFamily="34" charset="0"/>
                <a:ea typeface="Calibri" pitchFamily="34" charset="-122"/>
                <a:cs typeface="Calibri" pitchFamily="34" charset="-120"/>
              </a:rPr>
              <a:t>performance qu'en supervisé</a:t>
            </a:r>
            <a:endParaRPr lang="en-US" sz="1150" dirty="0"/>
          </a:p>
        </p:txBody>
      </p:sp>
      <p:sp>
        <p:nvSpPr>
          <p:cNvPr id="10" name="Shape 7"/>
          <p:cNvSpPr/>
          <p:nvPr/>
        </p:nvSpPr>
        <p:spPr>
          <a:xfrm>
            <a:off x="7772400" y="4261104"/>
            <a:ext cx="3840480" cy="1773936"/>
          </a:xfrm>
          <a:prstGeom prst="roundRect">
            <a:avLst>
              <a:gd name="adj" fmla="val 4124"/>
            </a:avLst>
          </a:prstGeom>
          <a:solidFill>
            <a:srgbClr val="FDF1E9"/>
          </a:solidFill>
          <a:ln w="12700">
            <a:solidFill>
              <a:srgbClr val="EB6834"/>
            </a:solidFill>
            <a:prstDash val="solid"/>
          </a:ln>
        </p:spPr>
      </p:sp>
      <p:sp>
        <p:nvSpPr>
          <p:cNvPr id="11" name="Text 8"/>
          <p:cNvSpPr/>
          <p:nvPr/>
        </p:nvSpPr>
        <p:spPr>
          <a:xfrm>
            <a:off x="7991856" y="4425696"/>
            <a:ext cx="342900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Et à 100 % des labels ?</a:t>
            </a:r>
            <a:endParaRPr lang="en-US" sz="1200" dirty="0"/>
          </a:p>
        </p:txBody>
      </p:sp>
      <p:sp>
        <p:nvSpPr>
          <p:cNvPr id="12" name="Text 9"/>
          <p:cNvSpPr/>
          <p:nvPr/>
        </p:nvSpPr>
        <p:spPr>
          <a:xfrm>
            <a:off x="7991856" y="4718304"/>
            <a:ext cx="3429000" cy="1188720"/>
          </a:xfrm>
          <a:prstGeom prst="rect">
            <a:avLst/>
          </a:prstGeom>
          <a:noFill/>
          <a:ln/>
        </p:spPr>
        <p:txBody>
          <a:bodyPr wrap="square" lIns="0" tIns="0" rIns="0" bIns="0" rtlCol="0" anchor="ctr"/>
          <a:lstStyle/>
          <a:p>
            <a:pPr indent="0" marL="0">
              <a:buNone/>
            </a:pPr>
            <a:r>
              <a:rPr lang="en-US" sz="1200" dirty="0">
                <a:solidFill>
                  <a:srgbClr val="10131A"/>
                </a:solidFill>
                <a:latin typeface="Calibri" pitchFamily="34" charset="0"/>
                <a:ea typeface="Calibri" pitchFamily="34" charset="-122"/>
                <a:cs typeface="Calibri" pitchFamily="34" charset="-120"/>
              </a:rPr>
              <a:t>Les deux méthodes sont à parité (93,56 contre 93,13). Nous parlons de parité et nous ne revendiquons pas ce +0,43 — le taux d'apprentissage a été réglé à 10 % puis transféré.</a:t>
            </a:r>
            <a:endParaRPr lang="en-US" sz="1200" dirty="0"/>
          </a:p>
        </p:txBody>
      </p:sp>
      <p:sp>
        <p:nvSpPr>
          <p:cNvPr id="13" name="Text 10"/>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14" name="Text 11"/>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Le tableau complet, témoin compris</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Accuracy top-1 sur les 10 000 images de test, moyenne ± écart-type sur 3 graines.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64240" cy="914400"/>
        </p:xfrm>
        <a:graphic>
          <a:graphicData uri="http://schemas.openxmlformats.org/drawingml/2006/table">
            <a:tbl>
              <a:tblPr/>
              <a:tblGrid>
                <a:gridCol w="3200400"/>
                <a:gridCol w="1691640"/>
                <a:gridCol w="2057400"/>
                <a:gridCol w="2057400"/>
                <a:gridCol w="2057400"/>
              </a:tblGrid>
              <a:tr h="402336">
                <a:tc>
                  <a:txBody>
                    <a:bodyPr/>
                    <a:lstStyle/>
                    <a:p>
                      <a:pPr algn="l" indent="0" marL="0">
                        <a:buNone/>
                      </a:pPr>
                      <a:r>
                        <a:rPr lang="en-US" sz="1250" b="1" dirty="0">
                          <a:solidFill>
                            <a:srgbClr val="10131A"/>
                          </a:solidFill>
                          <a:latin typeface="Calibri" pitchFamily="34" charset="0"/>
                          <a:ea typeface="Calibri" pitchFamily="34" charset="-122"/>
                          <a:cs typeface="Calibri" pitchFamily="34" charset="-120"/>
                        </a:rPr>
                        <a:t>Méthode</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l" indent="0" marL="0">
                        <a:buNone/>
                      </a:pPr>
                      <a:r>
                        <a:rPr lang="en-US" sz="1250" b="1" dirty="0">
                          <a:solidFill>
                            <a:srgbClr val="10131A"/>
                          </a:solidFill>
                          <a:latin typeface="Calibri" pitchFamily="34" charset="0"/>
                          <a:ea typeface="Calibri" pitchFamily="34" charset="-122"/>
                          <a:cs typeface="Calibri" pitchFamily="34" charset="-120"/>
                        </a:rPr>
                        <a:t>Poids entraînés</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10131A"/>
                          </a:solidFill>
                          <a:latin typeface="Calibri" pitchFamily="34" charset="0"/>
                          <a:ea typeface="Calibri" pitchFamily="34" charset="-122"/>
                          <a:cs typeface="Calibri" pitchFamily="34" charset="-120"/>
                        </a:rPr>
                        <a:t>450  (1 %)</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10131A"/>
                          </a:solidFill>
                          <a:latin typeface="Calibri" pitchFamily="34" charset="0"/>
                          <a:ea typeface="Calibri" pitchFamily="34" charset="-122"/>
                          <a:cs typeface="Calibri" pitchFamily="34" charset="-120"/>
                        </a:rPr>
                        <a:t>4 500  (10 %)</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10131A"/>
                          </a:solidFill>
                          <a:latin typeface="Calibri" pitchFamily="34" charset="0"/>
                          <a:ea typeface="Calibri" pitchFamily="34" charset="-122"/>
                          <a:cs typeface="Calibri" pitchFamily="34" charset="-120"/>
                        </a:rPr>
                        <a:t>45 000  (100 %)</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r>
              <a:tr h="402336">
                <a:tc>
                  <a:txBody>
                    <a:bodyPr/>
                    <a:lstStyle/>
                    <a:p>
                      <a:pPr indent="0" marL="0">
                        <a:buNone/>
                      </a:pPr>
                      <a:r>
                        <a:rPr lang="en-US" sz="1250" b="1" dirty="0">
                          <a:solidFill>
                            <a:srgbClr val="9AA7B6"/>
                          </a:solidFill>
                          <a:latin typeface="Calibri" pitchFamily="34" charset="0"/>
                          <a:ea typeface="Calibri" pitchFamily="34" charset="-122"/>
                          <a:cs typeface="Calibri" pitchFamily="34" charset="-120"/>
                        </a:rPr>
                        <a:t>Encodeur aléatoire gelé</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 5 130</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25,66 ± 1,18</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33,25 ± 0,46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42,30 ± 0,02</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02336">
                <a:tc>
                  <a:txBody>
                    <a:bodyPr/>
                    <a:lstStyle/>
                    <a:p>
                      <a:pPr indent="0" marL="0">
                        <a:buNone/>
                      </a:pPr>
                      <a:r>
                        <a:rPr lang="en-US" sz="1250" b="1" dirty="0">
                          <a:solidFill>
                            <a:srgbClr val="1BAF7A"/>
                          </a:solidFill>
                          <a:latin typeface="Calibri" pitchFamily="34" charset="0"/>
                          <a:ea typeface="Calibri" pitchFamily="34" charset="-122"/>
                          <a:cs typeface="Calibri" pitchFamily="34" charset="-120"/>
                        </a:rPr>
                        <a:t>Linear probe SimCLR</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 5 130</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72,00 ± 0,40</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78,83 ± 0,22</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81,87 ± 0,04</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02336">
                <a:tc>
                  <a:txBody>
                    <a:bodyPr/>
                    <a:lstStyle/>
                    <a:p>
                      <a:pPr indent="0" marL="0">
                        <a:buNone/>
                      </a:pPr>
                      <a:r>
                        <a:rPr lang="en-US" sz="1250" b="1" dirty="0">
                          <a:solidFill>
                            <a:srgbClr val="2A78D6"/>
                          </a:solidFill>
                          <a:latin typeface="Calibri" pitchFamily="34" charset="0"/>
                          <a:ea typeface="Calibri" pitchFamily="34" charset="-122"/>
                          <a:cs typeface="Calibri" pitchFamily="34" charset="-120"/>
                        </a:rPr>
                        <a:t>Fine-tuning SimCLR</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 11,2 M</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72,10 ± 0,86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82,71 ± 0,35</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93,56 ± 0,09</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02336">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Supervisé from scratch</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50" dirty="0">
                          <a:solidFill>
                            <a:srgbClr val="4A4F58"/>
                          </a:solidFill>
                          <a:latin typeface="Calibri" pitchFamily="34" charset="0"/>
                          <a:ea typeface="Calibri" pitchFamily="34" charset="-122"/>
                          <a:cs typeface="Calibri" pitchFamily="34" charset="-120"/>
                        </a:rPr>
                        <a:t>≈ 11,2 M</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39,52 ± 0,58</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70,25 ± 0,56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50" dirty="0">
                          <a:solidFill>
                            <a:srgbClr val="10131A"/>
                          </a:solidFill>
                          <a:latin typeface="Calibri" pitchFamily="34" charset="0"/>
                          <a:ea typeface="Calibri" pitchFamily="34" charset="-122"/>
                          <a:cs typeface="Calibri" pitchFamily="34" charset="-120"/>
                        </a:rPr>
                        <a:t>93,13 ± 0,08</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02336">
                <a:tc>
                  <a:txBody>
                    <a:bodyPr/>
                    <a:lstStyle/>
                    <a:p>
                      <a:pPr indent="0" marL="0">
                        <a:buNone/>
                      </a:pPr>
                      <a:r>
                        <a:rPr lang="en-US" sz="1250" b="1" dirty="0">
                          <a:solidFill>
                            <a:srgbClr val="10131A"/>
                          </a:solidFill>
                          <a:latin typeface="Calibri" pitchFamily="34" charset="0"/>
                          <a:ea typeface="Calibri" pitchFamily="34" charset="-122"/>
                          <a:cs typeface="Calibri" pitchFamily="34" charset="-120"/>
                        </a:rPr>
                        <a:t>Écart fine-tuning − supervisé</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indent="0" marL="0">
                        <a:buNone/>
                      </a:pP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2A78D6"/>
                          </a:solidFill>
                          <a:latin typeface="Calibri" pitchFamily="34" charset="0"/>
                          <a:ea typeface="Calibri" pitchFamily="34" charset="-122"/>
                          <a:cs typeface="Calibri" pitchFamily="34" charset="-120"/>
                        </a:rPr>
                        <a:t>+32,58</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2A78D6"/>
                          </a:solidFill>
                          <a:latin typeface="Calibri" pitchFamily="34" charset="0"/>
                          <a:ea typeface="Calibri" pitchFamily="34" charset="-122"/>
                          <a:cs typeface="Calibri" pitchFamily="34" charset="-120"/>
                        </a:rPr>
                        <a:t>+12,46</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50" b="1" dirty="0">
                          <a:solidFill>
                            <a:srgbClr val="4A4F58"/>
                          </a:solidFill>
                          <a:latin typeface="Calibri" pitchFamily="34" charset="0"/>
                          <a:ea typeface="Calibri" pitchFamily="34" charset="-122"/>
                          <a:cs typeface="Calibri" pitchFamily="34" charset="-120"/>
                        </a:rPr>
                        <a:t>+0,43</a:t>
                      </a:r>
                      <a:endParaRPr lang="en-US" sz="1250" dirty="0">
                        <a:latin typeface="Calibri" charset="0"/>
                        <a:ea typeface="Calibri" charset="0"/>
                        <a:cs typeface="Calibri" charset="0"/>
                      </a:endParaRPr>
                    </a:p>
                  </a:txBody>
                  <a:tcPr marL="101600" marR="1016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r>
            </a:tbl>
          </a:graphicData>
        </a:graphic>
      </p:graphicFrame>
      <p:sp>
        <p:nvSpPr>
          <p:cNvPr id="5" name="Shape 2"/>
          <p:cNvSpPr/>
          <p:nvPr/>
        </p:nvSpPr>
        <p:spPr>
          <a:xfrm>
            <a:off x="566928" y="4315968"/>
            <a:ext cx="5440680" cy="1700784"/>
          </a:xfrm>
          <a:prstGeom prst="roundRect">
            <a:avLst>
              <a:gd name="adj" fmla="val 4301"/>
            </a:avLst>
          </a:prstGeom>
          <a:solidFill>
            <a:srgbClr val="F4F6F9"/>
          </a:solidFill>
          <a:ln w="12700">
            <a:solidFill>
              <a:srgbClr val="DFE4EB"/>
            </a:solidFill>
            <a:prstDash val="solid"/>
          </a:ln>
        </p:spPr>
      </p:sp>
      <p:sp>
        <p:nvSpPr>
          <p:cNvPr id="6" name="Text 3"/>
          <p:cNvSpPr/>
          <p:nvPr/>
        </p:nvSpPr>
        <p:spPr>
          <a:xfrm>
            <a:off x="804672" y="4480560"/>
            <a:ext cx="4937760" cy="27432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Le témoin ferme le débat</a:t>
            </a:r>
            <a:endParaRPr lang="en-US" sz="1400" dirty="0"/>
          </a:p>
        </p:txBody>
      </p:sp>
      <p:sp>
        <p:nvSpPr>
          <p:cNvPr id="7" name="Text 4"/>
          <p:cNvSpPr/>
          <p:nvPr/>
        </p:nvSpPr>
        <p:spPr>
          <a:xfrm>
            <a:off x="804672" y="4791456"/>
            <a:ext cx="4937760" cy="109728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Même architecture, même protocole, même nombre de poids entraînés. Seule l'initialisation change : 25,66 contre 72,00. Les 46 points viennent du pré-entraînement.</a:t>
            </a:r>
            <a:endParaRPr lang="en-US" sz="1250" dirty="0"/>
          </a:p>
        </p:txBody>
      </p:sp>
      <p:sp>
        <p:nvSpPr>
          <p:cNvPr id="8" name="Shape 5"/>
          <p:cNvSpPr/>
          <p:nvPr/>
        </p:nvSpPr>
        <p:spPr>
          <a:xfrm>
            <a:off x="6190488" y="4315968"/>
            <a:ext cx="5440680" cy="1700784"/>
          </a:xfrm>
          <a:prstGeom prst="roundRect">
            <a:avLst>
              <a:gd name="adj" fmla="val 4301"/>
            </a:avLst>
          </a:prstGeom>
          <a:solidFill>
            <a:srgbClr val="F4F6F9"/>
          </a:solidFill>
          <a:ln w="12700">
            <a:solidFill>
              <a:srgbClr val="DFE4EB"/>
            </a:solidFill>
            <a:prstDash val="solid"/>
          </a:ln>
        </p:spPr>
      </p:sp>
      <p:sp>
        <p:nvSpPr>
          <p:cNvPr id="9" name="Text 6"/>
          <p:cNvSpPr/>
          <p:nvPr/>
        </p:nvSpPr>
        <p:spPr>
          <a:xfrm>
            <a:off x="6428232" y="4480560"/>
            <a:ext cx="4937760" cy="274320"/>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À 450 labels, dégeler ne sert à rien</a:t>
            </a:r>
            <a:endParaRPr lang="en-US" sz="1400" dirty="0"/>
          </a:p>
        </p:txBody>
      </p:sp>
      <p:sp>
        <p:nvSpPr>
          <p:cNvPr id="10" name="Text 7"/>
          <p:cNvSpPr/>
          <p:nvPr/>
        </p:nvSpPr>
        <p:spPr>
          <a:xfrm>
            <a:off x="6428232" y="4791456"/>
            <a:ext cx="4937760" cy="109728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72,10 contre 72,00, soit 0,10 point — moins que l'écart-type. Entraîner 11,2 M de poids n'apporte rien de mesurable face à 5 130.</a:t>
            </a:r>
            <a:endParaRPr lang="en-US" sz="1250" dirty="0"/>
          </a:p>
        </p:txBody>
      </p:sp>
      <p:sp>
        <p:nvSpPr>
          <p:cNvPr id="11" name="Text 8"/>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12" name="Text 9"/>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566928" y="2395728"/>
            <a:ext cx="640080" cy="640080"/>
          </a:xfrm>
          <a:prstGeom prst="ellipse">
            <a:avLst/>
          </a:prstGeom>
          <a:solidFill>
            <a:srgbClr val="1BAF7A"/>
          </a:solidFill>
          <a:ln w="12700">
            <a:solidFill>
              <a:srgbClr val="1BAF7A"/>
            </a:solidFill>
            <a:prstDash val="solid"/>
          </a:ln>
        </p:spPr>
      </p:sp>
      <p:sp>
        <p:nvSpPr>
          <p:cNvPr id="3" name="Text 1"/>
          <p:cNvSpPr/>
          <p:nvPr/>
        </p:nvSpPr>
        <p:spPr>
          <a:xfrm>
            <a:off x="566928" y="239572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4" name="Text 2"/>
          <p:cNvSpPr/>
          <p:nvPr/>
        </p:nvSpPr>
        <p:spPr>
          <a:xfrm>
            <a:off x="1481328" y="2286000"/>
            <a:ext cx="91440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Étude d'ablation</a:t>
            </a:r>
            <a:endParaRPr lang="en-US" sz="4400" dirty="0"/>
          </a:p>
        </p:txBody>
      </p:sp>
      <p:sp>
        <p:nvSpPr>
          <p:cNvPr id="5" name="Text 3"/>
          <p:cNvSpPr/>
          <p:nvPr/>
        </p:nvSpPr>
        <p:spPr>
          <a:xfrm>
            <a:off x="1481328" y="3145536"/>
            <a:ext cx="10058400" cy="365760"/>
          </a:xfrm>
          <a:prstGeom prst="rect">
            <a:avLst/>
          </a:prstGeom>
          <a:noFill/>
          <a:ln/>
        </p:spPr>
        <p:txBody>
          <a:bodyPr wrap="square" lIns="0" tIns="0" rIns="0" bIns="0" rtlCol="0" anchor="ctr"/>
          <a:lstStyle/>
          <a:p>
            <a:pPr indent="0" marL="0">
              <a:buNone/>
            </a:pPr>
            <a:r>
              <a:rPr lang="en-US" sz="1600" dirty="0">
                <a:solidFill>
                  <a:srgbClr val="5FD2A6"/>
                </a:solidFill>
                <a:latin typeface="Calibri" pitchFamily="34" charset="0"/>
                <a:ea typeface="Calibri" pitchFamily="34" charset="-122"/>
                <a:cs typeface="Calibri" pitchFamily="34" charset="-120"/>
              </a:rPr>
              <a:t>Quelle combinaison d'augmentations est la plus critique pour la qualité des représentations ?</a:t>
            </a:r>
            <a:endParaRPr lang="en-US" sz="1600" dirty="0"/>
          </a:p>
        </p:txBody>
      </p:sp>
      <p:sp>
        <p:nvSpPr>
          <p:cNvPr id="6" name="Text 4"/>
          <p:cNvSpPr/>
          <p:nvPr/>
        </p:nvSpPr>
        <p:spPr>
          <a:xfrm>
            <a:off x="1481328" y="3749040"/>
            <a:ext cx="10058400" cy="640080"/>
          </a:xfrm>
          <a:prstGeom prst="rect">
            <a:avLst/>
          </a:prstGeom>
          <a:noFill/>
          <a:ln/>
        </p:spPr>
        <p:txBody>
          <a:bodyPr wrap="square" lIns="0" tIns="0" rIns="0" bIns="0" rtlCol="0" anchor="ctr"/>
          <a:lstStyle/>
          <a:p>
            <a:pPr indent="0" marL="0">
              <a:buNone/>
            </a:pPr>
            <a:r>
              <a:rPr lang="en-US" sz="1350" dirty="0">
                <a:solidFill>
                  <a:srgbClr val="B9C6D6"/>
                </a:solidFill>
                <a:latin typeface="Calibri" pitchFamily="34" charset="0"/>
                <a:ea typeface="Calibri" pitchFamily="34" charset="-122"/>
                <a:cs typeface="Calibri" pitchFamily="34" charset="-120"/>
              </a:rPr>
              <a:t>Design additif : on part du recadrage seul et on ajoute UNE brique à la fois. Tout le reste est identique — architecture, 100 époques, lot 256, AdamW, température 0,5, graine 42.</a:t>
            </a:r>
            <a:endParaRPr lang="en-US" sz="1350" dirty="0"/>
          </a:p>
        </p:txBody>
      </p:sp>
      <p:sp>
        <p:nvSpPr>
          <p:cNvPr id="7" name="Text 5"/>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8FA0B4"/>
                </a:solidFill>
                <a:latin typeface="Calibri" pitchFamily="34" charset="0"/>
                <a:ea typeface="Calibri" pitchFamily="34" charset="-122"/>
                <a:cs typeface="Calibri" pitchFamily="34" charset="-120"/>
              </a:rPr>
              <a:t>Kossiko</a:t>
            </a:r>
            <a:endParaRPr lang="en-US" sz="1000" dirty="0"/>
          </a:p>
        </p:txBody>
      </p:sp>
      <p:sp>
        <p:nvSpPr>
          <p:cNvPr id="8" name="Text 6"/>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Le tableau d'ablation complet</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Les deux colonnes de gauche sont des diagnostics. Le classement se lit à droite — et il est identique aux deux régimes.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64240" cy="914400"/>
        </p:xfrm>
        <a:graphic>
          <a:graphicData uri="http://schemas.openxmlformats.org/drawingml/2006/table">
            <a:tbl>
              <a:tblPr/>
              <a:tblGrid>
                <a:gridCol w="2743200"/>
                <a:gridCol w="1828800"/>
                <a:gridCol w="1737360"/>
                <a:gridCol w="2377440"/>
                <a:gridCol w="2377440"/>
              </a:tblGrid>
              <a:tr h="438912">
                <a:tc>
                  <a:txBody>
                    <a:bodyPr/>
                    <a:lstStyle/>
                    <a:p>
                      <a:pPr algn="l" indent="0" marL="0">
                        <a:buNone/>
                      </a:pPr>
                      <a:r>
                        <a:rPr lang="en-US" sz="1200" b="1" dirty="0">
                          <a:solidFill>
                            <a:srgbClr val="7C828C"/>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00" b="1" dirty="0">
                          <a:solidFill>
                            <a:srgbClr val="7C828C"/>
                          </a:solidFill>
                          <a:latin typeface="Calibri" pitchFamily="34" charset="0"/>
                          <a:ea typeface="Calibri" pitchFamily="34" charset="-122"/>
                          <a:cs typeface="Calibri" pitchFamily="34" charset="-120"/>
                        </a:rPr>
                        <a:t>Perte NT-Xent</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00" b="1" dirty="0">
                          <a:solidFill>
                            <a:srgbClr val="7C828C"/>
                          </a:solidFill>
                          <a:latin typeface="Calibri" pitchFamily="34" charset="0"/>
                          <a:ea typeface="Calibri" pitchFamily="34" charset="-122"/>
                          <a:cs typeface="Calibri" pitchFamily="34" charset="-120"/>
                        </a:rPr>
                        <a:t>Positif 1er</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00" b="1" dirty="0">
                          <a:solidFill>
                            <a:srgbClr val="10131A"/>
                          </a:solidFill>
                          <a:latin typeface="Calibri" pitchFamily="34" charset="0"/>
                          <a:ea typeface="Calibri" pitchFamily="34" charset="-122"/>
                          <a:cs typeface="Calibri" pitchFamily="34" charset="-120"/>
                        </a:rPr>
                        <a:t>Accuracy à 10 % des labels</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algn="ctr" indent="0" marL="0">
                        <a:buNone/>
                      </a:pPr>
                      <a:r>
                        <a:rPr lang="en-US" sz="1200" b="1" dirty="0">
                          <a:solidFill>
                            <a:srgbClr val="10131A"/>
                          </a:solidFill>
                          <a:latin typeface="Calibri" pitchFamily="34" charset="0"/>
                          <a:ea typeface="Calibri" pitchFamily="34" charset="-122"/>
                          <a:cs typeface="Calibri" pitchFamily="34" charset="-120"/>
                        </a:rPr>
                        <a:t>Accuracy à 100 % des labels</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r>
              <a:tr h="438912">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crop seul</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4,3739</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98,01 %</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EB6834"/>
                          </a:solidFill>
                          <a:latin typeface="Calibri" pitchFamily="34" charset="0"/>
                          <a:ea typeface="Calibri" pitchFamily="34" charset="-122"/>
                          <a:cs typeface="Calibri" pitchFamily="34" charset="-120"/>
                        </a:rPr>
                        <a:t>53,29 ± 0,54</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EB6834"/>
                          </a:solidFill>
                          <a:latin typeface="Calibri" pitchFamily="34" charset="0"/>
                          <a:ea typeface="Calibri" pitchFamily="34" charset="-122"/>
                          <a:cs typeface="Calibri" pitchFamily="34" charset="-120"/>
                        </a:rPr>
                        <a:t>59,99 ± 0,06</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38912">
                <a:tc>
                  <a:txBody>
                    <a:bodyPr/>
                    <a:lstStyle/>
                    <a:p>
                      <a:pPr indent="0" marL="0">
                        <a:buNone/>
                      </a:pPr>
                      <a:r>
                        <a:rPr lang="en-US" sz="1200" b="1" dirty="0">
                          <a:solidFill>
                            <a:srgbClr val="4A4F58"/>
                          </a:solidFill>
                          <a:latin typeface="Calibri" pitchFamily="34" charset="0"/>
                          <a:ea typeface="Calibri" pitchFamily="34" charset="-122"/>
                          <a:cs typeface="Calibri" pitchFamily="34" charset="-120"/>
                        </a:rPr>
                        <a:t>+ flip</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4,3802</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97,95 %</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52,68 ± 0,40</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59,33 ± 0,11</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38912">
                <a:tc>
                  <a:txBody>
                    <a:bodyPr/>
                    <a:lstStyle/>
                    <a:p>
                      <a:pPr indent="0" marL="0">
                        <a:buNone/>
                      </a:pPr>
                      <a:r>
                        <a:rPr lang="en-US" sz="1200" b="1" dirty="0">
                          <a:solidFill>
                            <a:srgbClr val="4A4F58"/>
                          </a:solidFill>
                          <a:latin typeface="Calibri" pitchFamily="34" charset="0"/>
                          <a:ea typeface="Calibri" pitchFamily="34" charset="-122"/>
                          <a:cs typeface="Calibri" pitchFamily="34" charset="-120"/>
                        </a:rPr>
                        <a:t>+ color jitter</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4,4674</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91,68 %</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68,16 ± 0,39</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72,79 ± 0,04</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38912">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 niveaux de gris</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4,5502</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80,47 %</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2A78D6"/>
                          </a:solidFill>
                          <a:latin typeface="Calibri" pitchFamily="34" charset="0"/>
                          <a:ea typeface="Calibri" pitchFamily="34" charset="-122"/>
                          <a:cs typeface="Calibri" pitchFamily="34" charset="-120"/>
                        </a:rPr>
                        <a:t>78,83 ± 0,22</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2A78D6"/>
                          </a:solidFill>
                          <a:latin typeface="Calibri" pitchFamily="34" charset="0"/>
                          <a:ea typeface="Calibri" pitchFamily="34" charset="-122"/>
                          <a:cs typeface="Calibri" pitchFamily="34" charset="-120"/>
                        </a:rPr>
                        <a:t>81,87 ± 0,04</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438912">
                <a:tc>
                  <a:txBody>
                    <a:bodyPr/>
                    <a:lstStyle/>
                    <a:p>
                      <a:pPr indent="0" marL="0">
                        <a:buNone/>
                      </a:pPr>
                      <a:r>
                        <a:rPr lang="en-US" sz="1200" b="1" dirty="0">
                          <a:solidFill>
                            <a:srgbClr val="4A4F58"/>
                          </a:solidFill>
                          <a:latin typeface="Calibri" pitchFamily="34" charset="0"/>
                          <a:ea typeface="Calibri" pitchFamily="34" charset="-122"/>
                          <a:cs typeface="Calibri" pitchFamily="34" charset="-120"/>
                        </a:rPr>
                        <a:t>+ flou gaussien</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4,5601</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dirty="0">
                          <a:solidFill>
                            <a:srgbClr val="7C828C"/>
                          </a:solidFill>
                          <a:latin typeface="Calibri" pitchFamily="34" charset="0"/>
                          <a:ea typeface="Calibri" pitchFamily="34" charset="-122"/>
                          <a:cs typeface="Calibri" pitchFamily="34" charset="-120"/>
                        </a:rPr>
                        <a:t>78,86 %</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78,84 ± 0,13</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algn="ctr" indent="0" marL="0">
                        <a:buNone/>
                      </a:pPr>
                      <a:r>
                        <a:rPr lang="en-US" sz="1200" b="1" dirty="0">
                          <a:solidFill>
                            <a:srgbClr val="4A4F58"/>
                          </a:solidFill>
                          <a:latin typeface="Calibri" pitchFamily="34" charset="0"/>
                          <a:ea typeface="Calibri" pitchFamily="34" charset="-122"/>
                          <a:cs typeface="Calibri" pitchFamily="34" charset="-120"/>
                        </a:rPr>
                        <a:t>81,56 ± 0,03</a:t>
                      </a:r>
                      <a:endParaRPr lang="en-US" sz="1200" dirty="0">
                        <a:latin typeface="Calibri" charset="0"/>
                        <a:ea typeface="Calibri" charset="0"/>
                        <a:cs typeface="Calibri" charset="0"/>
                      </a:endParaRPr>
                    </a:p>
                  </a:txBody>
                  <a:tcPr marL="76200" marR="76200" marT="38100" marB="38100" anchor="ctr">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bl>
          </a:graphicData>
        </a:graphic>
      </p:graphicFrame>
      <p:sp>
        <p:nvSpPr>
          <p:cNvPr id="5" name="Shape 2"/>
          <p:cNvSpPr/>
          <p:nvPr/>
        </p:nvSpPr>
        <p:spPr>
          <a:xfrm>
            <a:off x="566928" y="4315968"/>
            <a:ext cx="5440680" cy="1700784"/>
          </a:xfrm>
          <a:prstGeom prst="roundRect">
            <a:avLst>
              <a:gd name="adj" fmla="val 4301"/>
            </a:avLst>
          </a:prstGeom>
          <a:solidFill>
            <a:srgbClr val="EAF7F1"/>
          </a:solidFill>
          <a:ln w="12700">
            <a:solidFill>
              <a:srgbClr val="1BAF7A"/>
            </a:solidFill>
            <a:prstDash val="solid"/>
          </a:ln>
        </p:spPr>
      </p:sp>
      <p:sp>
        <p:nvSpPr>
          <p:cNvPr id="6" name="Text 3"/>
          <p:cNvSpPr/>
          <p:nvPr/>
        </p:nvSpPr>
        <p:spPr>
          <a:xfrm>
            <a:off x="804672" y="4480560"/>
            <a:ext cx="4937760" cy="274320"/>
          </a:xfrm>
          <a:prstGeom prst="rect">
            <a:avLst/>
          </a:prstGeom>
          <a:noFill/>
          <a:ln/>
        </p:spPr>
        <p:txBody>
          <a:bodyPr wrap="square" lIns="0" tIns="0" rIns="0" bIns="0" rtlCol="0" anchor="ctr"/>
          <a:lstStyle/>
          <a:p>
            <a:pPr indent="0" marL="0">
              <a:buNone/>
            </a:pPr>
            <a:r>
              <a:rPr lang="en-US" sz="1200" b="1" spc="100" kern="0" dirty="0">
                <a:solidFill>
                  <a:srgbClr val="1BAF7A"/>
                </a:solidFill>
                <a:latin typeface="Calibri" pitchFamily="34" charset="0"/>
                <a:ea typeface="Calibri" pitchFamily="34" charset="-122"/>
                <a:cs typeface="Calibri" pitchFamily="34" charset="-120"/>
              </a:rPr>
              <a:t>Réponse à la question du sujet</a:t>
            </a:r>
            <a:endParaRPr lang="en-US" sz="1200" dirty="0"/>
          </a:p>
        </p:txBody>
      </p:sp>
      <p:sp>
        <p:nvSpPr>
          <p:cNvPr id="7" name="Text 4"/>
          <p:cNvSpPr/>
          <p:nvPr/>
        </p:nvSpPr>
        <p:spPr>
          <a:xfrm>
            <a:off x="804672" y="4773168"/>
            <a:ext cx="4937760" cy="109728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Ce sont les augmentations de COULEUR qui portent la qualité : +22,54 points à 100 % des labels, +26,16 à 10 %. Le flip et le flou n'ont aucun effet mesurable, aux deux régimes.</a:t>
            </a:r>
            <a:endParaRPr lang="en-US" sz="1300" dirty="0"/>
          </a:p>
        </p:txBody>
      </p:sp>
      <p:sp>
        <p:nvSpPr>
          <p:cNvPr id="8" name="Shape 5"/>
          <p:cNvSpPr/>
          <p:nvPr/>
        </p:nvSpPr>
        <p:spPr>
          <a:xfrm>
            <a:off x="6190488" y="4315968"/>
            <a:ext cx="5440680" cy="1700784"/>
          </a:xfrm>
          <a:prstGeom prst="roundRect">
            <a:avLst>
              <a:gd name="adj" fmla="val 4301"/>
            </a:avLst>
          </a:prstGeom>
          <a:solidFill>
            <a:srgbClr val="F4F6F9"/>
          </a:solidFill>
          <a:ln w="12700">
            <a:solidFill>
              <a:srgbClr val="DFE4EB"/>
            </a:solidFill>
            <a:prstDash val="solid"/>
          </a:ln>
        </p:spPr>
      </p:sp>
      <p:sp>
        <p:nvSpPr>
          <p:cNvPr id="9" name="Text 6"/>
          <p:cNvSpPr/>
          <p:nvPr/>
        </p:nvSpPr>
        <p:spPr>
          <a:xfrm>
            <a:off x="6428232" y="4480560"/>
            <a:ext cx="4937760" cy="274320"/>
          </a:xfrm>
          <a:prstGeom prst="rect">
            <a:avLst/>
          </a:prstGeom>
          <a:noFill/>
          <a:ln/>
        </p:spPr>
        <p:txBody>
          <a:bodyPr wrap="square" lIns="0" tIns="0" rIns="0" bIns="0" rtlCol="0" anchor="ctr"/>
          <a:lstStyle/>
          <a:p>
            <a:pPr indent="0" marL="0">
              <a:buNone/>
            </a:pPr>
            <a:r>
              <a:rPr lang="en-US" sz="1200" b="1" spc="100" kern="0" dirty="0">
                <a:solidFill>
                  <a:srgbClr val="4A4F58"/>
                </a:solidFill>
                <a:latin typeface="Calibri" pitchFamily="34" charset="0"/>
                <a:ea typeface="Calibri" pitchFamily="34" charset="-122"/>
                <a:cs typeface="Calibri" pitchFamily="34" charset="-120"/>
              </a:rPr>
              <a:t>Deux régimes, même classement</a:t>
            </a:r>
            <a:endParaRPr lang="en-US" sz="1200" dirty="0"/>
          </a:p>
        </p:txBody>
      </p:sp>
      <p:sp>
        <p:nvSpPr>
          <p:cNvPr id="10" name="Text 7"/>
          <p:cNvSpPr/>
          <p:nvPr/>
        </p:nvSpPr>
        <p:spPr>
          <a:xfrm>
            <a:off x="6428232" y="4773168"/>
            <a:ext cx="4937760" cy="1097280"/>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L'ordre des cinq configurations est identique à 10 % et à 100 %. La conclusion ne dépend donc pas du régime choisi pour l'évaluer — et les écarts sont plus grands à 10 %, là où la représentation compte le plus.</a:t>
            </a:r>
            <a:endParaRPr lang="en-US" sz="1300" dirty="0"/>
          </a:p>
        </p:txBody>
      </p:sp>
      <p:sp>
        <p:nvSpPr>
          <p:cNvPr id="11" name="Text 8"/>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12" name="Text 9"/>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La contribution de chaque brique, isolée</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À gauche le niveau atteint, à droite l'apport propre de la brique ajoutée.</a:t>
            </a:r>
            <a:endParaRPr lang="en-US" sz="1400" dirty="0"/>
          </a:p>
        </p:txBody>
      </p:sp>
      <p:pic>
        <p:nvPicPr>
          <p:cNvPr id="4" name="Image 0" descr="/tmp/p10/fig/fig_ablation.png">    </p:cNvPr>
          <p:cNvPicPr>
            <a:picLocks noChangeAspect="1"/>
          </p:cNvPicPr>
          <p:nvPr/>
        </p:nvPicPr>
        <p:blipFill>
          <a:blip r:embed="rId1"/>
          <a:stretch>
            <a:fillRect/>
          </a:stretch>
        </p:blipFill>
        <p:spPr>
          <a:xfrm>
            <a:off x="2078500" y="1371600"/>
            <a:ext cx="8041096" cy="3794760"/>
          </a:xfrm>
          <a:prstGeom prst="rect">
            <a:avLst/>
          </a:prstGeom>
        </p:spPr>
      </p:pic>
      <p:sp>
        <p:nvSpPr>
          <p:cNvPr id="5" name="Shape 2"/>
          <p:cNvSpPr/>
          <p:nvPr/>
        </p:nvSpPr>
        <p:spPr>
          <a:xfrm>
            <a:off x="566928" y="5285232"/>
            <a:ext cx="2615184" cy="914400"/>
          </a:xfrm>
          <a:prstGeom prst="roundRect">
            <a:avLst>
              <a:gd name="adj" fmla="val 8000"/>
            </a:avLst>
          </a:prstGeom>
          <a:solidFill>
            <a:srgbClr val="F4F6F9"/>
          </a:solidFill>
          <a:ln w="12700">
            <a:solidFill>
              <a:srgbClr val="DFE4EB"/>
            </a:solidFill>
            <a:prstDash val="solid"/>
          </a:ln>
        </p:spPr>
      </p:sp>
      <p:sp>
        <p:nvSpPr>
          <p:cNvPr id="6" name="Text 3"/>
          <p:cNvSpPr/>
          <p:nvPr/>
        </p:nvSpPr>
        <p:spPr>
          <a:xfrm>
            <a:off x="749808" y="5394960"/>
            <a:ext cx="2286000" cy="310896"/>
          </a:xfrm>
          <a:prstGeom prst="rect">
            <a:avLst/>
          </a:prstGeom>
          <a:noFill/>
          <a:ln/>
        </p:spPr>
        <p:txBody>
          <a:bodyPr wrap="square" lIns="0" tIns="0" rIns="0" bIns="0" rtlCol="0" anchor="ctr"/>
          <a:lstStyle/>
          <a:p>
            <a:pPr indent="0" marL="0">
              <a:buNone/>
            </a:pPr>
            <a:r>
              <a:rPr lang="en-US" sz="1700" b="1" dirty="0">
                <a:solidFill>
                  <a:srgbClr val="7C828C"/>
                </a:solidFill>
                <a:latin typeface="Calibri" pitchFamily="34" charset="0"/>
                <a:ea typeface="Calibri" pitchFamily="34" charset="-122"/>
                <a:cs typeface="Calibri" pitchFamily="34" charset="-120"/>
              </a:rPr>
              <a:t>−0,66  </a:t>
            </a:r>
            <a:pPr indent="0" marL="0">
              <a:buNone/>
            </a:pPr>
            <a:r>
              <a:rPr lang="en-US" sz="1250" dirty="0">
                <a:solidFill>
                  <a:srgbClr val="10131A"/>
                </a:solidFill>
                <a:latin typeface="Calibri" pitchFamily="34" charset="0"/>
                <a:ea typeface="Calibri" pitchFamily="34" charset="-122"/>
                <a:cs typeface="Calibri" pitchFamily="34" charset="-120"/>
              </a:rPr>
              <a:t>flip</a:t>
            </a:r>
            <a:endParaRPr lang="en-US" sz="1700" dirty="0"/>
          </a:p>
        </p:txBody>
      </p:sp>
      <p:sp>
        <p:nvSpPr>
          <p:cNvPr id="7" name="Text 4"/>
          <p:cNvSpPr/>
          <p:nvPr/>
        </p:nvSpPr>
        <p:spPr>
          <a:xfrm>
            <a:off x="749808" y="5724144"/>
            <a:ext cx="2286000" cy="384048"/>
          </a:xfrm>
          <a:prstGeom prst="rect">
            <a:avLst/>
          </a:prstGeom>
          <a:noFill/>
          <a:ln/>
        </p:spPr>
        <p:txBody>
          <a:bodyPr wrap="square" lIns="0" tIns="0" rIns="0" bIns="0" rtlCol="0" anchor="ctr"/>
          <a:lstStyle/>
          <a:p>
            <a:pPr indent="0" marL="0">
              <a:buNone/>
            </a:pPr>
            <a:r>
              <a:rPr lang="en-US" sz="1100" dirty="0">
                <a:solidFill>
                  <a:srgbClr val="4A4F58"/>
                </a:solidFill>
                <a:latin typeface="Calibri" pitchFamily="34" charset="0"/>
                <a:ea typeface="Calibri" pitchFamily="34" charset="-122"/>
                <a:cs typeface="Calibri" pitchFamily="34" charset="-120"/>
              </a:rPr>
              <a:t>à 10 % : −0,62 — rien</a:t>
            </a:r>
            <a:endParaRPr lang="en-US" sz="1100" dirty="0"/>
          </a:p>
        </p:txBody>
      </p:sp>
      <p:sp>
        <p:nvSpPr>
          <p:cNvPr id="8" name="Shape 5"/>
          <p:cNvSpPr/>
          <p:nvPr/>
        </p:nvSpPr>
        <p:spPr>
          <a:xfrm>
            <a:off x="3364992" y="5285232"/>
            <a:ext cx="2615184" cy="914400"/>
          </a:xfrm>
          <a:prstGeom prst="roundRect">
            <a:avLst>
              <a:gd name="adj" fmla="val 8000"/>
            </a:avLst>
          </a:prstGeom>
          <a:solidFill>
            <a:srgbClr val="F4F6F9"/>
          </a:solidFill>
          <a:ln w="12700">
            <a:solidFill>
              <a:srgbClr val="DFE4EB"/>
            </a:solidFill>
            <a:prstDash val="solid"/>
          </a:ln>
        </p:spPr>
      </p:sp>
      <p:sp>
        <p:nvSpPr>
          <p:cNvPr id="9" name="Text 6"/>
          <p:cNvSpPr/>
          <p:nvPr/>
        </p:nvSpPr>
        <p:spPr>
          <a:xfrm>
            <a:off x="3547872" y="5394960"/>
            <a:ext cx="2286000" cy="310896"/>
          </a:xfrm>
          <a:prstGeom prst="rect">
            <a:avLst/>
          </a:prstGeom>
          <a:noFill/>
          <a:ln/>
        </p:spPr>
        <p:txBody>
          <a:bodyPr wrap="square" lIns="0" tIns="0" rIns="0" bIns="0" rtlCol="0" anchor="ctr"/>
          <a:lstStyle/>
          <a:p>
            <a:pPr indent="0" marL="0">
              <a:buNone/>
            </a:pPr>
            <a:r>
              <a:rPr lang="en-US" sz="1700" b="1" dirty="0">
                <a:solidFill>
                  <a:srgbClr val="2A78D6"/>
                </a:solidFill>
                <a:latin typeface="Calibri" pitchFamily="34" charset="0"/>
                <a:ea typeface="Calibri" pitchFamily="34" charset="-122"/>
                <a:cs typeface="Calibri" pitchFamily="34" charset="-120"/>
              </a:rPr>
              <a:t>+13,46  </a:t>
            </a:r>
            <a:pPr indent="0" marL="0">
              <a:buNone/>
            </a:pPr>
            <a:r>
              <a:rPr lang="en-US" sz="1250" dirty="0">
                <a:solidFill>
                  <a:srgbClr val="10131A"/>
                </a:solidFill>
                <a:latin typeface="Calibri" pitchFamily="34" charset="0"/>
                <a:ea typeface="Calibri" pitchFamily="34" charset="-122"/>
                <a:cs typeface="Calibri" pitchFamily="34" charset="-120"/>
              </a:rPr>
              <a:t>color jitter</a:t>
            </a:r>
            <a:endParaRPr lang="en-US" sz="1700" dirty="0"/>
          </a:p>
        </p:txBody>
      </p:sp>
      <p:sp>
        <p:nvSpPr>
          <p:cNvPr id="10" name="Text 7"/>
          <p:cNvSpPr/>
          <p:nvPr/>
        </p:nvSpPr>
        <p:spPr>
          <a:xfrm>
            <a:off x="3547872" y="5724144"/>
            <a:ext cx="2286000" cy="384048"/>
          </a:xfrm>
          <a:prstGeom prst="rect">
            <a:avLst/>
          </a:prstGeom>
          <a:noFill/>
          <a:ln/>
        </p:spPr>
        <p:txBody>
          <a:bodyPr wrap="square" lIns="0" tIns="0" rIns="0" bIns="0" rtlCol="0" anchor="ctr"/>
          <a:lstStyle/>
          <a:p>
            <a:pPr indent="0" marL="0">
              <a:buNone/>
            </a:pPr>
            <a:r>
              <a:rPr lang="en-US" sz="1100" dirty="0">
                <a:solidFill>
                  <a:srgbClr val="4A4F58"/>
                </a:solidFill>
                <a:latin typeface="Calibri" pitchFamily="34" charset="0"/>
                <a:ea typeface="Calibri" pitchFamily="34" charset="-122"/>
                <a:cs typeface="Calibri" pitchFamily="34" charset="-120"/>
              </a:rPr>
              <a:t>à 10 % : +15,48 — le plus fort</a:t>
            </a:r>
            <a:endParaRPr lang="en-US" sz="1100" dirty="0"/>
          </a:p>
        </p:txBody>
      </p:sp>
      <p:sp>
        <p:nvSpPr>
          <p:cNvPr id="11" name="Shape 8"/>
          <p:cNvSpPr/>
          <p:nvPr/>
        </p:nvSpPr>
        <p:spPr>
          <a:xfrm>
            <a:off x="6163056" y="5285232"/>
            <a:ext cx="2615184" cy="914400"/>
          </a:xfrm>
          <a:prstGeom prst="roundRect">
            <a:avLst>
              <a:gd name="adj" fmla="val 8000"/>
            </a:avLst>
          </a:prstGeom>
          <a:solidFill>
            <a:srgbClr val="F4F6F9"/>
          </a:solidFill>
          <a:ln w="12700">
            <a:solidFill>
              <a:srgbClr val="DFE4EB"/>
            </a:solidFill>
            <a:prstDash val="solid"/>
          </a:ln>
        </p:spPr>
      </p:sp>
      <p:sp>
        <p:nvSpPr>
          <p:cNvPr id="12" name="Text 9"/>
          <p:cNvSpPr/>
          <p:nvPr/>
        </p:nvSpPr>
        <p:spPr>
          <a:xfrm>
            <a:off x="6345936" y="5394960"/>
            <a:ext cx="2286000" cy="310896"/>
          </a:xfrm>
          <a:prstGeom prst="rect">
            <a:avLst/>
          </a:prstGeom>
          <a:noFill/>
          <a:ln/>
        </p:spPr>
        <p:txBody>
          <a:bodyPr wrap="square" lIns="0" tIns="0" rIns="0" bIns="0" rtlCol="0" anchor="ctr"/>
          <a:lstStyle/>
          <a:p>
            <a:pPr indent="0" marL="0">
              <a:buNone/>
            </a:pPr>
            <a:r>
              <a:rPr lang="en-US" sz="1700" b="1" dirty="0">
                <a:solidFill>
                  <a:srgbClr val="2A78D6"/>
                </a:solidFill>
                <a:latin typeface="Calibri" pitchFamily="34" charset="0"/>
                <a:ea typeface="Calibri" pitchFamily="34" charset="-122"/>
                <a:cs typeface="Calibri" pitchFamily="34" charset="-120"/>
              </a:rPr>
              <a:t>+9,08  </a:t>
            </a:r>
            <a:pPr indent="0" marL="0">
              <a:buNone/>
            </a:pPr>
            <a:r>
              <a:rPr lang="en-US" sz="1250" dirty="0">
                <a:solidFill>
                  <a:srgbClr val="10131A"/>
                </a:solidFill>
                <a:latin typeface="Calibri" pitchFamily="34" charset="0"/>
                <a:ea typeface="Calibri" pitchFamily="34" charset="-122"/>
                <a:cs typeface="Calibri" pitchFamily="34" charset="-120"/>
              </a:rPr>
              <a:t>niveaux de gris</a:t>
            </a:r>
            <a:endParaRPr lang="en-US" sz="1700" dirty="0"/>
          </a:p>
        </p:txBody>
      </p:sp>
      <p:sp>
        <p:nvSpPr>
          <p:cNvPr id="13" name="Text 10"/>
          <p:cNvSpPr/>
          <p:nvPr/>
        </p:nvSpPr>
        <p:spPr>
          <a:xfrm>
            <a:off x="6345936" y="5724144"/>
            <a:ext cx="2286000" cy="384048"/>
          </a:xfrm>
          <a:prstGeom prst="rect">
            <a:avLst/>
          </a:prstGeom>
          <a:noFill/>
          <a:ln/>
        </p:spPr>
        <p:txBody>
          <a:bodyPr wrap="square" lIns="0" tIns="0" rIns="0" bIns="0" rtlCol="0" anchor="ctr"/>
          <a:lstStyle/>
          <a:p>
            <a:pPr indent="0" marL="0">
              <a:buNone/>
            </a:pPr>
            <a:r>
              <a:rPr lang="en-US" sz="1100" dirty="0">
                <a:solidFill>
                  <a:srgbClr val="4A4F58"/>
                </a:solidFill>
                <a:latin typeface="Calibri" pitchFamily="34" charset="0"/>
                <a:ea typeface="Calibri" pitchFamily="34" charset="-122"/>
                <a:cs typeface="Calibri" pitchFamily="34" charset="-120"/>
              </a:rPr>
              <a:t>à 10 % : +10,68</a:t>
            </a:r>
            <a:endParaRPr lang="en-US" sz="1100" dirty="0"/>
          </a:p>
        </p:txBody>
      </p:sp>
      <p:sp>
        <p:nvSpPr>
          <p:cNvPr id="14" name="Shape 11"/>
          <p:cNvSpPr/>
          <p:nvPr/>
        </p:nvSpPr>
        <p:spPr>
          <a:xfrm>
            <a:off x="8961120" y="5285232"/>
            <a:ext cx="2615184" cy="914400"/>
          </a:xfrm>
          <a:prstGeom prst="roundRect">
            <a:avLst>
              <a:gd name="adj" fmla="val 8000"/>
            </a:avLst>
          </a:prstGeom>
          <a:solidFill>
            <a:srgbClr val="F4F6F9"/>
          </a:solidFill>
          <a:ln w="12700">
            <a:solidFill>
              <a:srgbClr val="DFE4EB"/>
            </a:solidFill>
            <a:prstDash val="solid"/>
          </a:ln>
        </p:spPr>
      </p:sp>
      <p:sp>
        <p:nvSpPr>
          <p:cNvPr id="15" name="Text 12"/>
          <p:cNvSpPr/>
          <p:nvPr/>
        </p:nvSpPr>
        <p:spPr>
          <a:xfrm>
            <a:off x="9144000" y="5394960"/>
            <a:ext cx="2286000" cy="310896"/>
          </a:xfrm>
          <a:prstGeom prst="rect">
            <a:avLst/>
          </a:prstGeom>
          <a:noFill/>
          <a:ln/>
        </p:spPr>
        <p:txBody>
          <a:bodyPr wrap="square" lIns="0" tIns="0" rIns="0" bIns="0" rtlCol="0" anchor="ctr"/>
          <a:lstStyle/>
          <a:p>
            <a:pPr indent="0" marL="0">
              <a:buNone/>
            </a:pPr>
            <a:r>
              <a:rPr lang="en-US" sz="1700" b="1" dirty="0">
                <a:solidFill>
                  <a:srgbClr val="7C828C"/>
                </a:solidFill>
                <a:latin typeface="Calibri" pitchFamily="34" charset="0"/>
                <a:ea typeface="Calibri" pitchFamily="34" charset="-122"/>
                <a:cs typeface="Calibri" pitchFamily="34" charset="-120"/>
              </a:rPr>
              <a:t>−0,31  </a:t>
            </a:r>
            <a:pPr indent="0" marL="0">
              <a:buNone/>
            </a:pPr>
            <a:r>
              <a:rPr lang="en-US" sz="1250" dirty="0">
                <a:solidFill>
                  <a:srgbClr val="10131A"/>
                </a:solidFill>
                <a:latin typeface="Calibri" pitchFamily="34" charset="0"/>
                <a:ea typeface="Calibri" pitchFamily="34" charset="-122"/>
                <a:cs typeface="Calibri" pitchFamily="34" charset="-120"/>
              </a:rPr>
              <a:t>flou gaussien</a:t>
            </a:r>
            <a:endParaRPr lang="en-US" sz="1700" dirty="0"/>
          </a:p>
        </p:txBody>
      </p:sp>
      <p:sp>
        <p:nvSpPr>
          <p:cNvPr id="16" name="Text 13"/>
          <p:cNvSpPr/>
          <p:nvPr/>
        </p:nvSpPr>
        <p:spPr>
          <a:xfrm>
            <a:off x="9144000" y="5724144"/>
            <a:ext cx="2286000" cy="384048"/>
          </a:xfrm>
          <a:prstGeom prst="rect">
            <a:avLst/>
          </a:prstGeom>
          <a:noFill/>
          <a:ln/>
        </p:spPr>
        <p:txBody>
          <a:bodyPr wrap="square" lIns="0" tIns="0" rIns="0" bIns="0" rtlCol="0" anchor="ctr"/>
          <a:lstStyle/>
          <a:p>
            <a:pPr indent="0" marL="0">
              <a:buNone/>
            </a:pPr>
            <a:r>
              <a:rPr lang="en-US" sz="1100" dirty="0">
                <a:solidFill>
                  <a:srgbClr val="4A4F58"/>
                </a:solidFill>
                <a:latin typeface="Calibri" pitchFamily="34" charset="0"/>
                <a:ea typeface="Calibri" pitchFamily="34" charset="-122"/>
                <a:cs typeface="Calibri" pitchFamily="34" charset="-120"/>
              </a:rPr>
              <a:t>à 10 % : +0,01 — rien</a:t>
            </a:r>
            <a:endParaRPr lang="en-US" sz="1100" dirty="0"/>
          </a:p>
        </p:txBody>
      </p:sp>
      <p:sp>
        <p:nvSpPr>
          <p:cNvPr id="17" name="Text 14"/>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18" name="Text 15"/>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Bien résoudre la tâche prétexte n'est pas bien apprendre</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Le classement par la perte NT-Xent est l'inverse du classement par l'accuracy.</a:t>
            </a:r>
            <a:endParaRPr lang="en-US" sz="1400" dirty="0"/>
          </a:p>
        </p:txBody>
      </p:sp>
      <p:pic>
        <p:nvPicPr>
          <p:cNvPr id="4" name="Image 0" descr="/tmp/p10/fig/fig_inversion.png">    </p:cNvPr>
          <p:cNvPicPr>
            <a:picLocks noChangeAspect="1"/>
          </p:cNvPicPr>
          <p:nvPr/>
        </p:nvPicPr>
        <p:blipFill>
          <a:blip r:embed="rId1"/>
          <a:stretch>
            <a:fillRect/>
          </a:stretch>
        </p:blipFill>
        <p:spPr>
          <a:xfrm>
            <a:off x="457200" y="1451692"/>
            <a:ext cx="6858000" cy="4174072"/>
          </a:xfrm>
          <a:prstGeom prst="rect">
            <a:avLst/>
          </a:prstGeom>
        </p:spPr>
      </p:pic>
      <p:sp>
        <p:nvSpPr>
          <p:cNvPr id="5" name="Shape 2"/>
          <p:cNvSpPr/>
          <p:nvPr/>
        </p:nvSpPr>
        <p:spPr>
          <a:xfrm>
            <a:off x="7516368" y="1371600"/>
            <a:ext cx="4114800" cy="2084832"/>
          </a:xfrm>
          <a:prstGeom prst="roundRect">
            <a:avLst>
              <a:gd name="adj" fmla="val 3509"/>
            </a:avLst>
          </a:prstGeom>
          <a:solidFill>
            <a:srgbClr val="FDF1E9"/>
          </a:solidFill>
          <a:ln w="12700">
            <a:solidFill>
              <a:srgbClr val="EB6834"/>
            </a:solidFill>
            <a:prstDash val="solid"/>
          </a:ln>
        </p:spPr>
      </p:sp>
      <p:sp>
        <p:nvSpPr>
          <p:cNvPr id="6" name="Text 3"/>
          <p:cNvSpPr/>
          <p:nvPr/>
        </p:nvSpPr>
        <p:spPr>
          <a:xfrm>
            <a:off x="7735824" y="1536192"/>
            <a:ext cx="3703320" cy="292608"/>
          </a:xfrm>
          <a:prstGeom prst="rect">
            <a:avLst/>
          </a:prstGeom>
          <a:noFill/>
          <a:ln/>
        </p:spPr>
        <p:txBody>
          <a:bodyPr wrap="square" lIns="0" tIns="0" rIns="0" bIns="0" rtlCol="0" anchor="ctr"/>
          <a:lstStyle/>
          <a:p>
            <a:pPr indent="0" marL="0">
              <a:buNone/>
            </a:pPr>
            <a:r>
              <a:rPr lang="en-US" sz="1600" b="1" dirty="0">
                <a:solidFill>
                  <a:srgbClr val="EB6834"/>
                </a:solidFill>
                <a:latin typeface="Cambria" pitchFamily="34" charset="0"/>
                <a:ea typeface="Cambria" pitchFamily="34" charset="-122"/>
                <a:cs typeface="Cambria" pitchFamily="34" charset="-120"/>
              </a:rPr>
              <a:t>crop seul</a:t>
            </a:r>
            <a:endParaRPr lang="en-US" sz="1600" dirty="0"/>
          </a:p>
        </p:txBody>
      </p:sp>
      <p:sp>
        <p:nvSpPr>
          <p:cNvPr id="7" name="Text 4"/>
          <p:cNvSpPr/>
          <p:nvPr/>
        </p:nvSpPr>
        <p:spPr>
          <a:xfrm>
            <a:off x="7735824" y="1883664"/>
            <a:ext cx="3703320" cy="822960"/>
          </a:xfrm>
          <a:prstGeom prst="rect">
            <a:avLst/>
          </a:prstGeom>
          <a:noFill/>
          <a:ln/>
        </p:spPr>
        <p:txBody>
          <a:bodyPr wrap="square" lIns="0" tIns="0" rIns="0" bIns="0" rtlCol="0" anchor="ctr"/>
          <a:lstStyle/>
          <a:p>
            <a:pPr indent="0" marL="0">
              <a:buNone/>
            </a:pPr>
            <a:r>
              <a:rPr lang="en-US" sz="1250" dirty="0">
                <a:solidFill>
                  <a:srgbClr val="10131A"/>
                </a:solidFill>
                <a:latin typeface="Calibri" pitchFamily="34" charset="0"/>
                <a:ea typeface="Calibri" pitchFamily="34" charset="-122"/>
                <a:cs typeface="Calibri" pitchFamily="34" charset="-120"/>
              </a:rPr>
              <a:t>Meilleure perte de l'étude (4,3739), 98,0 % des positifs au premier rang — et la PIRE représentation (59,99 %).</a:t>
            </a:r>
            <a:endParaRPr lang="en-US" sz="1250" dirty="0"/>
          </a:p>
        </p:txBody>
      </p:sp>
      <p:sp>
        <p:nvSpPr>
          <p:cNvPr id="8" name="Text 5"/>
          <p:cNvSpPr/>
          <p:nvPr/>
        </p:nvSpPr>
        <p:spPr>
          <a:xfrm>
            <a:off x="7735824" y="2761488"/>
            <a:ext cx="3703320" cy="54864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Il résout presque parfaitement une tâche qui ne demande rien.</a:t>
            </a:r>
            <a:endParaRPr lang="en-US" sz="1200" dirty="0"/>
          </a:p>
        </p:txBody>
      </p:sp>
      <p:sp>
        <p:nvSpPr>
          <p:cNvPr id="9" name="Shape 6"/>
          <p:cNvSpPr/>
          <p:nvPr/>
        </p:nvSpPr>
        <p:spPr>
          <a:xfrm>
            <a:off x="7516368" y="3602736"/>
            <a:ext cx="4114800" cy="2176272"/>
          </a:xfrm>
          <a:prstGeom prst="roundRect">
            <a:avLst>
              <a:gd name="adj" fmla="val 3361"/>
            </a:avLst>
          </a:prstGeom>
          <a:solidFill>
            <a:srgbClr val="EAF2FC"/>
          </a:solidFill>
          <a:ln w="12700">
            <a:solidFill>
              <a:srgbClr val="2A78D6"/>
            </a:solidFill>
            <a:prstDash val="solid"/>
          </a:ln>
        </p:spPr>
      </p:sp>
      <p:sp>
        <p:nvSpPr>
          <p:cNvPr id="10" name="Text 7"/>
          <p:cNvSpPr/>
          <p:nvPr/>
        </p:nvSpPr>
        <p:spPr>
          <a:xfrm>
            <a:off x="7735824" y="3767328"/>
            <a:ext cx="3703320" cy="292608"/>
          </a:xfrm>
          <a:prstGeom prst="rect">
            <a:avLst/>
          </a:prstGeom>
          <a:noFill/>
          <a:ln/>
        </p:spPr>
        <p:txBody>
          <a:bodyPr wrap="square" lIns="0" tIns="0" rIns="0" bIns="0" rtlCol="0" anchor="ctr"/>
          <a:lstStyle/>
          <a:p>
            <a:pPr indent="0" marL="0">
              <a:buNone/>
            </a:pPr>
            <a:r>
              <a:rPr lang="en-US" sz="1600" b="1" dirty="0">
                <a:solidFill>
                  <a:srgbClr val="2A78D6"/>
                </a:solidFill>
                <a:latin typeface="Cambria" pitchFamily="34" charset="0"/>
                <a:ea typeface="Cambria" pitchFamily="34" charset="-122"/>
                <a:cs typeface="Cambria" pitchFamily="34" charset="-120"/>
              </a:rPr>
              <a:t>+ niveaux de gris</a:t>
            </a:r>
            <a:endParaRPr lang="en-US" sz="1600" dirty="0"/>
          </a:p>
        </p:txBody>
      </p:sp>
      <p:sp>
        <p:nvSpPr>
          <p:cNvPr id="11" name="Text 8"/>
          <p:cNvSpPr/>
          <p:nvPr/>
        </p:nvSpPr>
        <p:spPr>
          <a:xfrm>
            <a:off x="7735824" y="4114800"/>
            <a:ext cx="3703320" cy="822960"/>
          </a:xfrm>
          <a:prstGeom prst="rect">
            <a:avLst/>
          </a:prstGeom>
          <a:noFill/>
          <a:ln/>
        </p:spPr>
        <p:txBody>
          <a:bodyPr wrap="square" lIns="0" tIns="0" rIns="0" bIns="0" rtlCol="0" anchor="ctr"/>
          <a:lstStyle/>
          <a:p>
            <a:pPr indent="0" marL="0">
              <a:buNone/>
            </a:pPr>
            <a:r>
              <a:rPr lang="en-US" sz="1250" dirty="0">
                <a:solidFill>
                  <a:srgbClr val="10131A"/>
                </a:solidFill>
                <a:latin typeface="Calibri" pitchFamily="34" charset="0"/>
                <a:ea typeface="Calibri" pitchFamily="34" charset="-122"/>
                <a:cs typeface="Calibri" pitchFamily="34" charset="-120"/>
              </a:rPr>
              <a:t>Perte plus élevée (4,5502), seulement 80,5 % au premier rang — et la MEILLEURE représentation (81,87 %).</a:t>
            </a:r>
            <a:endParaRPr lang="en-US" sz="1250" dirty="0"/>
          </a:p>
        </p:txBody>
      </p:sp>
      <p:sp>
        <p:nvSpPr>
          <p:cNvPr id="12" name="Text 9"/>
          <p:cNvSpPr/>
          <p:nvPr/>
        </p:nvSpPr>
        <p:spPr>
          <a:xfrm>
            <a:off x="7735824" y="4992624"/>
            <a:ext cx="3703320" cy="54864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La tâche est plus dure, donc elle force à regarder la forme.</a:t>
            </a:r>
            <a:endParaRPr lang="en-US" sz="1200" dirty="0"/>
          </a:p>
        </p:txBody>
      </p:sp>
      <p:sp>
        <p:nvSpPr>
          <p:cNvPr id="13" name="Text 10"/>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14" name="Text 11"/>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Pourquoi ? Le raccourci de couleur</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Ce n'est pas une corrélation observée, c'est un mécanisme identifiable.</a:t>
            </a:r>
            <a:endParaRPr lang="en-US" sz="1400" dirty="0"/>
          </a:p>
        </p:txBody>
      </p:sp>
      <p:pic>
        <p:nvPicPr>
          <p:cNvPr id="4" name="Image 0" descr="/tmp/p10/fig/fig_raccourci.png">    </p:cNvPr>
          <p:cNvPicPr>
            <a:picLocks noChangeAspect="1"/>
          </p:cNvPicPr>
          <p:nvPr/>
        </p:nvPicPr>
        <p:blipFill>
          <a:blip r:embed="rId1"/>
          <a:stretch>
            <a:fillRect/>
          </a:stretch>
        </p:blipFill>
        <p:spPr>
          <a:xfrm>
            <a:off x="2915656" y="1600200"/>
            <a:ext cx="6366784" cy="2377440"/>
          </a:xfrm>
          <a:prstGeom prst="rect">
            <a:avLst/>
          </a:prstGeom>
        </p:spPr>
      </p:pic>
      <p:sp>
        <p:nvSpPr>
          <p:cNvPr id="5" name="Shape 2"/>
          <p:cNvSpPr/>
          <p:nvPr/>
        </p:nvSpPr>
        <p:spPr>
          <a:xfrm>
            <a:off x="566928" y="4224528"/>
            <a:ext cx="11064240" cy="1737360"/>
          </a:xfrm>
          <a:prstGeom prst="roundRect">
            <a:avLst>
              <a:gd name="adj" fmla="val 4211"/>
            </a:avLst>
          </a:prstGeom>
          <a:solidFill>
            <a:srgbClr val="EAF2FC"/>
          </a:solidFill>
          <a:ln w="12700">
            <a:solidFill>
              <a:srgbClr val="2A78D6"/>
            </a:solidFill>
            <a:prstDash val="solid"/>
          </a:ln>
        </p:spPr>
      </p:sp>
      <p:sp>
        <p:nvSpPr>
          <p:cNvPr id="6" name="Text 3"/>
          <p:cNvSpPr/>
          <p:nvPr/>
        </p:nvSpPr>
        <p:spPr>
          <a:xfrm>
            <a:off x="859536" y="4407408"/>
            <a:ext cx="10469880" cy="329184"/>
          </a:xfrm>
          <a:prstGeom prst="rect">
            <a:avLst/>
          </a:prstGeom>
          <a:noFill/>
          <a:ln/>
        </p:spPr>
        <p:txBody>
          <a:bodyPr wrap="square" lIns="0" tIns="0" rIns="0" bIns="0" rtlCol="0" anchor="ctr"/>
          <a:lstStyle/>
          <a:p>
            <a:pPr indent="0" marL="0">
              <a:buNone/>
            </a:pPr>
            <a:r>
              <a:rPr lang="en-US" sz="1500" b="1" dirty="0">
                <a:solidFill>
                  <a:srgbClr val="10131A"/>
                </a:solidFill>
                <a:latin typeface="Calibri" pitchFamily="34" charset="0"/>
                <a:ea typeface="Calibri" pitchFamily="34" charset="-122"/>
                <a:cs typeface="Calibri" pitchFamily="34" charset="-120"/>
              </a:rPr>
              <a:t>Sans perturbation des couleurs, les deux vues d'une même image conservent le même histogramme de couleur.</a:t>
            </a:r>
            <a:endParaRPr lang="en-US" sz="1500" dirty="0"/>
          </a:p>
        </p:txBody>
      </p:sp>
      <p:sp>
        <p:nvSpPr>
          <p:cNvPr id="7" name="Text 4"/>
          <p:cNvSpPr/>
          <p:nvPr/>
        </p:nvSpPr>
        <p:spPr>
          <a:xfrm>
            <a:off x="859536" y="4791456"/>
            <a:ext cx="10469880" cy="1005840"/>
          </a:xfrm>
          <a:prstGeom prst="rect">
            <a:avLst/>
          </a:prstGeom>
          <a:noFill/>
          <a:ln/>
        </p:spPr>
        <p:txBody>
          <a:bodyPr wrap="square" lIns="0" tIns="0" rIns="0" bIns="0" rtlCol="0" anchor="ctr"/>
          <a:lstStyle/>
          <a:p>
            <a:pPr indent="0" marL="0">
              <a:buNone/>
            </a:pPr>
            <a:r>
              <a:rPr lang="en-US" sz="1350" dirty="0">
                <a:solidFill>
                  <a:srgbClr val="4A4F58"/>
                </a:solidFill>
                <a:latin typeface="Calibri" pitchFamily="34" charset="0"/>
                <a:ea typeface="Calibri" pitchFamily="34" charset="-122"/>
                <a:cs typeface="Calibri" pitchFamily="34" charset="-120"/>
              </a:rPr>
              <a:t>Le réseau peut alors les apparier en comparant leurs teintes, sans jamais analyser la forme. La tâche prétexte devient facile, la perte descend — et la représentation apprise se réduit à un descripteur de couleur, inutile en aval. C'est exactement ce que la démonstration donne à voir sur les plus proches voisins.</a:t>
            </a:r>
            <a:endParaRPr lang="en-US" sz="1350" dirty="0"/>
          </a:p>
        </p:txBody>
      </p:sp>
      <p:sp>
        <p:nvSpPr>
          <p:cNvPr id="8" name="Text 5"/>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Kossiko</a:t>
            </a:r>
            <a:endParaRPr lang="en-US" sz="1000" dirty="0"/>
          </a:p>
        </p:txBody>
      </p:sp>
      <p:sp>
        <p:nvSpPr>
          <p:cNvPr id="9" name="Text 6"/>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Résultats et ablation — 8 min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L'application de démonstration</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Une page HTML autonome : aucun serveur, aucune dépendance réseau, ouverte directement dans le navigateur.</a:t>
            </a:r>
            <a:endParaRPr lang="en-US" sz="1400" dirty="0"/>
          </a:p>
        </p:txBody>
      </p:sp>
      <p:pic>
        <p:nvPicPr>
          <p:cNvPr id="4" name="Image 0" descr="/tmp/p10/fig/fig_tsne.png">    </p:cNvPr>
          <p:cNvPicPr>
            <a:picLocks noChangeAspect="1"/>
          </p:cNvPicPr>
          <p:nvPr/>
        </p:nvPicPr>
        <p:blipFill>
          <a:blip r:embed="rId1"/>
          <a:stretch>
            <a:fillRect/>
          </a:stretch>
        </p:blipFill>
        <p:spPr>
          <a:xfrm>
            <a:off x="1940220" y="1298448"/>
            <a:ext cx="8317657" cy="3703320"/>
          </a:xfrm>
          <a:prstGeom prst="rect">
            <a:avLst/>
          </a:prstGeom>
        </p:spPr>
      </p:pic>
      <p:sp>
        <p:nvSpPr>
          <p:cNvPr id="5" name="Shape 2"/>
          <p:cNvSpPr/>
          <p:nvPr/>
        </p:nvSpPr>
        <p:spPr>
          <a:xfrm>
            <a:off x="566928" y="5102352"/>
            <a:ext cx="3529584" cy="1188720"/>
          </a:xfrm>
          <a:prstGeom prst="roundRect">
            <a:avLst>
              <a:gd name="adj" fmla="val 6154"/>
            </a:avLst>
          </a:prstGeom>
          <a:solidFill>
            <a:srgbClr val="F4F6F9"/>
          </a:solidFill>
          <a:ln w="12700">
            <a:solidFill>
              <a:srgbClr val="DFE4EB"/>
            </a:solidFill>
            <a:prstDash val="solid"/>
          </a:ln>
        </p:spPr>
      </p:sp>
      <p:sp>
        <p:nvSpPr>
          <p:cNvPr id="6" name="Text 3"/>
          <p:cNvSpPr/>
          <p:nvPr/>
        </p:nvSpPr>
        <p:spPr>
          <a:xfrm>
            <a:off x="786384" y="5230368"/>
            <a:ext cx="310896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Six encodeurs comparables</a:t>
            </a:r>
            <a:endParaRPr lang="en-US" sz="1350" dirty="0"/>
          </a:p>
        </p:txBody>
      </p:sp>
      <p:sp>
        <p:nvSpPr>
          <p:cNvPr id="7" name="Text 4"/>
          <p:cNvSpPr/>
          <p:nvPr/>
        </p:nvSpPr>
        <p:spPr>
          <a:xfrm>
            <a:off x="786384" y="5522976"/>
            <a:ext cx="3108960" cy="658368"/>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l'aléatoire et les cinq configurations d'ablation, côte à côte.</a:t>
            </a:r>
            <a:endParaRPr lang="en-US" sz="1150" dirty="0"/>
          </a:p>
        </p:txBody>
      </p:sp>
      <p:sp>
        <p:nvSpPr>
          <p:cNvPr id="8" name="Shape 5"/>
          <p:cNvSpPr/>
          <p:nvPr/>
        </p:nvSpPr>
        <p:spPr>
          <a:xfrm>
            <a:off x="4334256" y="5102352"/>
            <a:ext cx="3529584" cy="1188720"/>
          </a:xfrm>
          <a:prstGeom prst="roundRect">
            <a:avLst>
              <a:gd name="adj" fmla="val 6154"/>
            </a:avLst>
          </a:prstGeom>
          <a:solidFill>
            <a:srgbClr val="F4F6F9"/>
          </a:solidFill>
          <a:ln w="12700">
            <a:solidFill>
              <a:srgbClr val="DFE4EB"/>
            </a:solidFill>
            <a:prstDash val="solid"/>
          </a:ln>
        </p:spPr>
      </p:sp>
      <p:sp>
        <p:nvSpPr>
          <p:cNvPr id="9" name="Text 6"/>
          <p:cNvSpPr/>
          <p:nvPr/>
        </p:nvSpPr>
        <p:spPr>
          <a:xfrm>
            <a:off x="4553712" y="5230368"/>
            <a:ext cx="310896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Coloré par la classe réelle</a:t>
            </a:r>
            <a:endParaRPr lang="en-US" sz="1350" dirty="0"/>
          </a:p>
        </p:txBody>
      </p:sp>
      <p:sp>
        <p:nvSpPr>
          <p:cNvPr id="10" name="Text 7"/>
          <p:cNvSpPr/>
          <p:nvPr/>
        </p:nvSpPr>
        <p:spPr>
          <a:xfrm>
            <a:off x="4553712" y="5522976"/>
            <a:ext cx="3108960" cy="658368"/>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jamais utilisée au pré-entraînement — c'est ce que le sujet demande.</a:t>
            </a:r>
            <a:endParaRPr lang="en-US" sz="1150" dirty="0"/>
          </a:p>
        </p:txBody>
      </p:sp>
      <p:sp>
        <p:nvSpPr>
          <p:cNvPr id="11" name="Shape 8"/>
          <p:cNvSpPr/>
          <p:nvPr/>
        </p:nvSpPr>
        <p:spPr>
          <a:xfrm>
            <a:off x="8101584" y="5102352"/>
            <a:ext cx="3529584" cy="1188720"/>
          </a:xfrm>
          <a:prstGeom prst="roundRect">
            <a:avLst>
              <a:gd name="adj" fmla="val 6154"/>
            </a:avLst>
          </a:prstGeom>
          <a:solidFill>
            <a:srgbClr val="F4F6F9"/>
          </a:solidFill>
          <a:ln w="12700">
            <a:solidFill>
              <a:srgbClr val="DFE4EB"/>
            </a:solidFill>
            <a:prstDash val="solid"/>
          </a:ln>
        </p:spPr>
      </p:sp>
      <p:sp>
        <p:nvSpPr>
          <p:cNvPr id="12" name="Text 9"/>
          <p:cNvSpPr/>
          <p:nvPr/>
        </p:nvSpPr>
        <p:spPr>
          <a:xfrm>
            <a:off x="8321040" y="5230368"/>
            <a:ext cx="3108960" cy="27432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Plus proches voisins</a:t>
            </a:r>
            <a:endParaRPr lang="en-US" sz="1350" dirty="0"/>
          </a:p>
        </p:txBody>
      </p:sp>
      <p:sp>
        <p:nvSpPr>
          <p:cNvPr id="13" name="Text 10"/>
          <p:cNvSpPr/>
          <p:nvPr/>
        </p:nvSpPr>
        <p:spPr>
          <a:xfrm>
            <a:off x="8321040" y="5522976"/>
            <a:ext cx="3108960" cy="658368"/>
          </a:xfrm>
          <a:prstGeom prst="rect">
            <a:avLst/>
          </a:prstGeom>
          <a:noFill/>
          <a:ln/>
        </p:spPr>
        <p:txBody>
          <a:bodyPr wrap="square" lIns="0" tIns="0" rIns="0" bIns="0" rtlCol="0" anchor="ctr"/>
          <a:lstStyle/>
          <a:p>
            <a:pPr indent="0" marL="0">
              <a:buNone/>
            </a:pPr>
            <a:r>
              <a:rPr lang="en-US" sz="1150" dirty="0">
                <a:solidFill>
                  <a:srgbClr val="4A4F58"/>
                </a:solidFill>
                <a:latin typeface="Calibri" pitchFamily="34" charset="0"/>
                <a:ea typeface="Calibri" pitchFamily="34" charset="-122"/>
                <a:cs typeface="Calibri" pitchFamily="34" charset="-120"/>
              </a:rPr>
              <a:t>sélectionner une image et voir ses voisins : le raccourci de couleur devient visible.</a:t>
            </a:r>
            <a:endParaRPr lang="en-US" sz="1150" dirty="0"/>
          </a:p>
        </p:txBody>
      </p:sp>
      <p:sp>
        <p:nvSpPr>
          <p:cNvPr id="14" name="Text 11"/>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Athanase</a:t>
            </a:r>
            <a:endParaRPr lang="en-US" sz="1000" dirty="0"/>
          </a:p>
        </p:txBody>
      </p:sp>
      <p:sp>
        <p:nvSpPr>
          <p:cNvPr id="15" name="Text 12"/>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Démonstration — 2 min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Ce que notre étude ne permet pas d'affirmer</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Quatre limites que nous préférons énoncer plutôt qu'attendre qu'on nous les oppose.</a:t>
            </a:r>
            <a:endParaRPr lang="en-US" sz="1400" dirty="0"/>
          </a:p>
        </p:txBody>
      </p:sp>
      <p:sp>
        <p:nvSpPr>
          <p:cNvPr id="4" name="Shape 2"/>
          <p:cNvSpPr/>
          <p:nvPr/>
        </p:nvSpPr>
        <p:spPr>
          <a:xfrm>
            <a:off x="566928" y="1481328"/>
            <a:ext cx="5440680" cy="2029968"/>
          </a:xfrm>
          <a:prstGeom prst="roundRect">
            <a:avLst>
              <a:gd name="adj" fmla="val 3604"/>
            </a:avLst>
          </a:prstGeom>
          <a:solidFill>
            <a:srgbClr val="F4F6F9"/>
          </a:solidFill>
          <a:ln w="12700">
            <a:solidFill>
              <a:srgbClr val="DFE4EB"/>
            </a:solidFill>
            <a:prstDash val="solid"/>
          </a:ln>
        </p:spPr>
      </p:sp>
      <p:sp>
        <p:nvSpPr>
          <p:cNvPr id="5" name="Shape 3"/>
          <p:cNvSpPr/>
          <p:nvPr/>
        </p:nvSpPr>
        <p:spPr>
          <a:xfrm>
            <a:off x="804672" y="1700784"/>
            <a:ext cx="365760" cy="365760"/>
          </a:xfrm>
          <a:prstGeom prst="ellipse">
            <a:avLst/>
          </a:prstGeom>
          <a:solidFill>
            <a:srgbClr val="2A78D6"/>
          </a:solidFill>
          <a:ln w="12700">
            <a:solidFill>
              <a:srgbClr val="2A78D6"/>
            </a:solidFill>
            <a:prstDash val="solid"/>
          </a:ln>
        </p:spPr>
      </p:sp>
      <p:sp>
        <p:nvSpPr>
          <p:cNvPr id="6" name="Text 4"/>
          <p:cNvSpPr/>
          <p:nvPr/>
        </p:nvSpPr>
        <p:spPr>
          <a:xfrm>
            <a:off x="804672" y="1700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80160" y="1700784"/>
            <a:ext cx="4480560" cy="310896"/>
          </a:xfrm>
          <a:prstGeom prst="rect">
            <a:avLst/>
          </a:prstGeom>
          <a:noFill/>
          <a:ln/>
        </p:spPr>
        <p:txBody>
          <a:bodyPr wrap="square" lIns="0" tIns="0" rIns="0" bIns="0" rtlCol="0" anchor="ctr"/>
          <a:lstStyle/>
          <a:p>
            <a:pPr indent="0" marL="0">
              <a:buNone/>
            </a:pPr>
            <a:r>
              <a:rPr lang="en-US" sz="1550" b="1" dirty="0">
                <a:solidFill>
                  <a:srgbClr val="10131A"/>
                </a:solidFill>
                <a:latin typeface="Calibri" pitchFamily="34" charset="0"/>
                <a:ea typeface="Calibri" pitchFamily="34" charset="-122"/>
                <a:cs typeface="Calibri" pitchFamily="34" charset="-120"/>
              </a:rPr>
              <a:t>Taille du lot : 256</a:t>
            </a:r>
            <a:endParaRPr lang="en-US" sz="1550" dirty="0"/>
          </a:p>
        </p:txBody>
      </p:sp>
      <p:sp>
        <p:nvSpPr>
          <p:cNvPr id="8" name="Text 6"/>
          <p:cNvSpPr/>
          <p:nvPr/>
        </p:nvSpPr>
        <p:spPr>
          <a:xfrm>
            <a:off x="804672" y="2121408"/>
            <a:ext cx="4974336" cy="128016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510 négatifs par ancre, contre plusieurs milliers dans les expériences de référence. Nous ne l'avons pas fait varier, faute de budget. Elle plafonne mécaniquement nos chiffres absolus.</a:t>
            </a:r>
            <a:endParaRPr lang="en-US" sz="1250" dirty="0"/>
          </a:p>
        </p:txBody>
      </p:sp>
      <p:sp>
        <p:nvSpPr>
          <p:cNvPr id="9" name="Shape 7"/>
          <p:cNvSpPr/>
          <p:nvPr/>
        </p:nvSpPr>
        <p:spPr>
          <a:xfrm>
            <a:off x="6190488" y="1481328"/>
            <a:ext cx="5440680" cy="2029968"/>
          </a:xfrm>
          <a:prstGeom prst="roundRect">
            <a:avLst>
              <a:gd name="adj" fmla="val 3604"/>
            </a:avLst>
          </a:prstGeom>
          <a:solidFill>
            <a:srgbClr val="F4F6F9"/>
          </a:solidFill>
          <a:ln w="12700">
            <a:solidFill>
              <a:srgbClr val="DFE4EB"/>
            </a:solidFill>
            <a:prstDash val="solid"/>
          </a:ln>
        </p:spPr>
      </p:sp>
      <p:sp>
        <p:nvSpPr>
          <p:cNvPr id="10" name="Shape 8"/>
          <p:cNvSpPr/>
          <p:nvPr/>
        </p:nvSpPr>
        <p:spPr>
          <a:xfrm>
            <a:off x="6428232" y="1700784"/>
            <a:ext cx="365760" cy="365760"/>
          </a:xfrm>
          <a:prstGeom prst="ellipse">
            <a:avLst/>
          </a:prstGeom>
          <a:solidFill>
            <a:srgbClr val="1BAF7A"/>
          </a:solidFill>
          <a:ln w="12700">
            <a:solidFill>
              <a:srgbClr val="1BAF7A"/>
            </a:solidFill>
            <a:prstDash val="solid"/>
          </a:ln>
        </p:spPr>
      </p:sp>
      <p:sp>
        <p:nvSpPr>
          <p:cNvPr id="11" name="Text 9"/>
          <p:cNvSpPr/>
          <p:nvPr/>
        </p:nvSpPr>
        <p:spPr>
          <a:xfrm>
            <a:off x="6428232" y="1700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03720" y="1700784"/>
            <a:ext cx="4480560" cy="310896"/>
          </a:xfrm>
          <a:prstGeom prst="rect">
            <a:avLst/>
          </a:prstGeom>
          <a:noFill/>
          <a:ln/>
        </p:spPr>
        <p:txBody>
          <a:bodyPr wrap="square" lIns="0" tIns="0" rIns="0" bIns="0" rtlCol="0" anchor="ctr"/>
          <a:lstStyle/>
          <a:p>
            <a:pPr indent="0" marL="0">
              <a:buNone/>
            </a:pPr>
            <a:r>
              <a:rPr lang="en-US" sz="1550" b="1" dirty="0">
                <a:solidFill>
                  <a:srgbClr val="10131A"/>
                </a:solidFill>
                <a:latin typeface="Calibri" pitchFamily="34" charset="0"/>
                <a:ea typeface="Calibri" pitchFamily="34" charset="-122"/>
                <a:cs typeface="Calibri" pitchFamily="34" charset="-120"/>
              </a:rPr>
              <a:t>Une seule graine de pré-entraînement</a:t>
            </a:r>
            <a:endParaRPr lang="en-US" sz="1550" dirty="0"/>
          </a:p>
        </p:txBody>
      </p:sp>
      <p:sp>
        <p:nvSpPr>
          <p:cNvPr id="13" name="Text 11"/>
          <p:cNvSpPr/>
          <p:nvPr/>
        </p:nvSpPr>
        <p:spPr>
          <a:xfrm>
            <a:off x="6428232" y="2121408"/>
            <a:ext cx="4974336" cy="128016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Nos ± portent sur les 3 graines d'évaluation. La variabilité d'un pré-entraînement à l'autre est inconnue : 3 graines × 5 configurations ≈ 10 h de GPU.</a:t>
            </a:r>
            <a:endParaRPr lang="en-US" sz="1250" dirty="0"/>
          </a:p>
        </p:txBody>
      </p:sp>
      <p:sp>
        <p:nvSpPr>
          <p:cNvPr id="14" name="Shape 12"/>
          <p:cNvSpPr/>
          <p:nvPr/>
        </p:nvSpPr>
        <p:spPr>
          <a:xfrm>
            <a:off x="566928" y="3694176"/>
            <a:ext cx="5440680" cy="2029968"/>
          </a:xfrm>
          <a:prstGeom prst="roundRect">
            <a:avLst>
              <a:gd name="adj" fmla="val 3604"/>
            </a:avLst>
          </a:prstGeom>
          <a:solidFill>
            <a:srgbClr val="F4F6F9"/>
          </a:solidFill>
          <a:ln w="12700">
            <a:solidFill>
              <a:srgbClr val="DFE4EB"/>
            </a:solidFill>
            <a:prstDash val="solid"/>
          </a:ln>
        </p:spPr>
      </p:sp>
      <p:sp>
        <p:nvSpPr>
          <p:cNvPr id="15" name="Shape 13"/>
          <p:cNvSpPr/>
          <p:nvPr/>
        </p:nvSpPr>
        <p:spPr>
          <a:xfrm>
            <a:off x="804672" y="3913632"/>
            <a:ext cx="365760" cy="365760"/>
          </a:xfrm>
          <a:prstGeom prst="ellipse">
            <a:avLst/>
          </a:prstGeom>
          <a:solidFill>
            <a:srgbClr val="EB6834"/>
          </a:solidFill>
          <a:ln w="12700">
            <a:solidFill>
              <a:srgbClr val="EB6834"/>
            </a:solidFill>
            <a:prstDash val="solid"/>
          </a:ln>
        </p:spPr>
      </p:sp>
      <p:sp>
        <p:nvSpPr>
          <p:cNvPr id="16" name="Text 14"/>
          <p:cNvSpPr/>
          <p:nvPr/>
        </p:nvSpPr>
        <p:spPr>
          <a:xfrm>
            <a:off x="804672" y="3913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280160" y="3913632"/>
            <a:ext cx="4480560" cy="310896"/>
          </a:xfrm>
          <a:prstGeom prst="rect">
            <a:avLst/>
          </a:prstGeom>
          <a:noFill/>
          <a:ln/>
        </p:spPr>
        <p:txBody>
          <a:bodyPr wrap="square" lIns="0" tIns="0" rIns="0" bIns="0" rtlCol="0" anchor="ctr"/>
          <a:lstStyle/>
          <a:p>
            <a:pPr indent="0" marL="0">
              <a:buNone/>
            </a:pPr>
            <a:r>
              <a:rPr lang="en-US" sz="1550" b="1" dirty="0">
                <a:solidFill>
                  <a:srgbClr val="10131A"/>
                </a:solidFill>
                <a:latin typeface="Calibri" pitchFamily="34" charset="0"/>
                <a:ea typeface="Calibri" pitchFamily="34" charset="-122"/>
                <a:cs typeface="Calibri" pitchFamily="34" charset="-120"/>
              </a:rPr>
              <a:t>Taux d'apprentissage transféré</a:t>
            </a:r>
            <a:endParaRPr lang="en-US" sz="1550" dirty="0"/>
          </a:p>
        </p:txBody>
      </p:sp>
      <p:sp>
        <p:nvSpPr>
          <p:cNvPr id="18" name="Text 16"/>
          <p:cNvSpPr/>
          <p:nvPr/>
        </p:nvSpPr>
        <p:spPr>
          <a:xfrm>
            <a:off x="804672" y="4334256"/>
            <a:ext cx="4974336" cy="128016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Réglé au régime 10 %, appliqué aux trois. C'est pourquoi nous parlons de parité à 100 % et ne revendiquons pas le +0,43.</a:t>
            </a:r>
            <a:endParaRPr lang="en-US" sz="1250" dirty="0"/>
          </a:p>
        </p:txBody>
      </p:sp>
      <p:sp>
        <p:nvSpPr>
          <p:cNvPr id="19" name="Shape 17"/>
          <p:cNvSpPr/>
          <p:nvPr/>
        </p:nvSpPr>
        <p:spPr>
          <a:xfrm>
            <a:off x="6190488" y="3694176"/>
            <a:ext cx="5440680" cy="2029968"/>
          </a:xfrm>
          <a:prstGeom prst="roundRect">
            <a:avLst>
              <a:gd name="adj" fmla="val 3604"/>
            </a:avLst>
          </a:prstGeom>
          <a:solidFill>
            <a:srgbClr val="F4F6F9"/>
          </a:solidFill>
          <a:ln w="12700">
            <a:solidFill>
              <a:srgbClr val="DFE4EB"/>
            </a:solidFill>
            <a:prstDash val="solid"/>
          </a:ln>
        </p:spPr>
      </p:sp>
      <p:sp>
        <p:nvSpPr>
          <p:cNvPr id="20" name="Shape 18"/>
          <p:cNvSpPr/>
          <p:nvPr/>
        </p:nvSpPr>
        <p:spPr>
          <a:xfrm>
            <a:off x="6428232" y="3913632"/>
            <a:ext cx="365760" cy="365760"/>
          </a:xfrm>
          <a:prstGeom prst="ellipse">
            <a:avLst/>
          </a:prstGeom>
          <a:solidFill>
            <a:srgbClr val="6E7683"/>
          </a:solidFill>
          <a:ln w="12700">
            <a:solidFill>
              <a:srgbClr val="6E7683"/>
            </a:solidFill>
            <a:prstDash val="solid"/>
          </a:ln>
        </p:spPr>
      </p:sp>
      <p:sp>
        <p:nvSpPr>
          <p:cNvPr id="21" name="Text 19"/>
          <p:cNvSpPr/>
          <p:nvPr/>
        </p:nvSpPr>
        <p:spPr>
          <a:xfrm>
            <a:off x="6428232" y="3913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03720" y="3913632"/>
            <a:ext cx="4480560" cy="310896"/>
          </a:xfrm>
          <a:prstGeom prst="rect">
            <a:avLst/>
          </a:prstGeom>
          <a:noFill/>
          <a:ln/>
        </p:spPr>
        <p:txBody>
          <a:bodyPr wrap="square" lIns="0" tIns="0" rIns="0" bIns="0" rtlCol="0" anchor="ctr"/>
          <a:lstStyle/>
          <a:p>
            <a:pPr indent="0" marL="0">
              <a:buNone/>
            </a:pPr>
            <a:r>
              <a:rPr lang="en-US" sz="1550" b="1" dirty="0">
                <a:solidFill>
                  <a:srgbClr val="10131A"/>
                </a:solidFill>
                <a:latin typeface="Calibri" pitchFamily="34" charset="0"/>
                <a:ea typeface="Calibri" pitchFamily="34" charset="-122"/>
                <a:cs typeface="Calibri" pitchFamily="34" charset="-120"/>
              </a:rPr>
              <a:t>Aucune comparaison de temps</a:t>
            </a:r>
            <a:endParaRPr lang="en-US" sz="1550" dirty="0"/>
          </a:p>
        </p:txBody>
      </p:sp>
      <p:sp>
        <p:nvSpPr>
          <p:cNvPr id="23" name="Text 21"/>
          <p:cNvSpPr/>
          <p:nvPr/>
        </p:nvSpPr>
        <p:spPr>
          <a:xfrm>
            <a:off x="6428232" y="4334256"/>
            <a:ext cx="4974336" cy="1280160"/>
          </a:xfrm>
          <a:prstGeom prst="rect">
            <a:avLst/>
          </a:prstGeom>
          <a:noFill/>
          <a:ln/>
        </p:spPr>
        <p:txBody>
          <a:bodyPr wrap="square" lIns="0" tIns="0" rIns="0" bIns="0" rtlCol="0" anchor="ctr"/>
          <a:lstStyle/>
          <a:p>
            <a:pPr indent="0" marL="0">
              <a:buNone/>
            </a:pPr>
            <a:r>
              <a:rPr lang="en-US" sz="1250" dirty="0">
                <a:solidFill>
                  <a:srgbClr val="4A4F58"/>
                </a:solidFill>
                <a:latin typeface="Calibri" pitchFamily="34" charset="0"/>
                <a:ea typeface="Calibri" pitchFamily="34" charset="-122"/>
                <a:cs typeface="Calibri" pitchFamily="34" charset="-120"/>
              </a:rPr>
              <a:t>Machine partagée : la même configuration a mis 2 104 s pour une graine et 11 914 s pour une autre. Publier un ratio de coût serait malhonnête.</a:t>
            </a:r>
            <a:endParaRPr lang="en-US" sz="1250" dirty="0"/>
          </a:p>
        </p:txBody>
      </p:sp>
      <p:sp>
        <p:nvSpPr>
          <p:cNvPr id="24" name="Text 22"/>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7C828C"/>
                </a:solidFill>
                <a:latin typeface="Calibri" pitchFamily="34" charset="0"/>
                <a:ea typeface="Calibri" pitchFamily="34" charset="-122"/>
                <a:cs typeface="Calibri" pitchFamily="34" charset="-120"/>
              </a:rPr>
              <a:t>Rafiatou</a:t>
            </a:r>
            <a:endParaRPr lang="en-US" sz="1000" dirty="0"/>
          </a:p>
        </p:txBody>
      </p:sp>
      <p:sp>
        <p:nvSpPr>
          <p:cNvPr id="25" name="Text 23"/>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7C828C"/>
                </a:solidFill>
                <a:latin typeface="Calibri" pitchFamily="34" charset="0"/>
                <a:ea typeface="Calibri" pitchFamily="34" charset="-122"/>
                <a:cs typeface="Calibri" pitchFamily="34" charset="-120"/>
              </a:rPr>
              <a:t>Limites et conclusion — 2 min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B2A"/>
        </a:solidFill>
      </p:bgPr>
    </p:bg>
    <p:spTree>
      <p:nvGrpSpPr>
        <p:cNvPr id="1" name=""/>
        <p:cNvGrpSpPr/>
        <p:nvPr/>
      </p:nvGrpSpPr>
      <p:grpSpPr>
        <a:xfrm>
          <a:off x="0" y="0"/>
          <a:ext cx="0" cy="0"/>
          <a:chOff x="0" y="0"/>
          <a:chExt cx="0" cy="0"/>
        </a:xfrm>
      </p:grpSpPr>
      <p:sp>
        <p:nvSpPr>
          <p:cNvPr id="2" name="Text 0"/>
          <p:cNvSpPr/>
          <p:nvPr/>
        </p:nvSpPr>
        <p:spPr>
          <a:xfrm>
            <a:off x="566928" y="566928"/>
            <a:ext cx="1060704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 que nous retenons</a:t>
            </a:r>
            <a:endParaRPr lang="en-US" sz="3200" dirty="0"/>
          </a:p>
        </p:txBody>
      </p:sp>
      <p:sp>
        <p:nvSpPr>
          <p:cNvPr id="3" name="Shape 1"/>
          <p:cNvSpPr/>
          <p:nvPr/>
        </p:nvSpPr>
        <p:spPr>
          <a:xfrm>
            <a:off x="566928" y="1371600"/>
            <a:ext cx="10607040" cy="1234440"/>
          </a:xfrm>
          <a:prstGeom prst="roundRect">
            <a:avLst>
              <a:gd name="adj" fmla="val 5926"/>
            </a:avLst>
          </a:prstGeom>
          <a:solidFill>
            <a:srgbClr val="16283C"/>
          </a:solidFill>
          <a:ln w="12700">
            <a:solidFill>
              <a:srgbClr val="16283C"/>
            </a:solidFill>
            <a:prstDash val="solid"/>
          </a:ln>
        </p:spPr>
      </p:sp>
      <p:sp>
        <p:nvSpPr>
          <p:cNvPr id="4" name="Shape 2"/>
          <p:cNvSpPr/>
          <p:nvPr/>
        </p:nvSpPr>
        <p:spPr>
          <a:xfrm>
            <a:off x="841248" y="1773936"/>
            <a:ext cx="420624" cy="420624"/>
          </a:xfrm>
          <a:prstGeom prst="ellipse">
            <a:avLst/>
          </a:prstGeom>
          <a:solidFill>
            <a:srgbClr val="6DA7EC"/>
          </a:solidFill>
          <a:ln w="12700">
            <a:solidFill>
              <a:srgbClr val="6DA7EC"/>
            </a:solidFill>
            <a:prstDash val="solid"/>
          </a:ln>
        </p:spPr>
      </p:sp>
      <p:sp>
        <p:nvSpPr>
          <p:cNvPr id="5" name="Text 3"/>
          <p:cNvSpPr/>
          <p:nvPr/>
        </p:nvSpPr>
        <p:spPr>
          <a:xfrm>
            <a:off x="841248" y="177393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1554480"/>
            <a:ext cx="941832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Le SSL paie en régime de faible supervision, et seulement là</a:t>
            </a:r>
            <a:endParaRPr lang="en-US" sz="1800" dirty="0"/>
          </a:p>
        </p:txBody>
      </p:sp>
      <p:sp>
        <p:nvSpPr>
          <p:cNvPr id="7" name="Text 5"/>
          <p:cNvSpPr/>
          <p:nvPr/>
        </p:nvSpPr>
        <p:spPr>
          <a:xfrm>
            <a:off x="1463040" y="1956816"/>
            <a:ext cx="9418320" cy="548640"/>
          </a:xfrm>
          <a:prstGeom prst="rect">
            <a:avLst/>
          </a:prstGeom>
          <a:noFill/>
          <a:ln/>
        </p:spPr>
        <p:txBody>
          <a:bodyPr wrap="square" lIns="0" tIns="0" rIns="0" bIns="0" rtlCol="0" anchor="ctr"/>
          <a:lstStyle/>
          <a:p>
            <a:pPr indent="0" marL="0">
              <a:buNone/>
            </a:pPr>
            <a:r>
              <a:rPr lang="en-US" sz="1350" dirty="0">
                <a:solidFill>
                  <a:srgbClr val="B9C6D6"/>
                </a:solidFill>
                <a:latin typeface="Calibri" pitchFamily="34" charset="0"/>
                <a:ea typeface="Calibri" pitchFamily="34" charset="-122"/>
                <a:cs typeface="Calibri" pitchFamily="34" charset="-120"/>
              </a:rPr>
              <a:t>+32,58 points à 450 labels, +12,46 à 4 500, parité à 45 000. Le bénéfice se referme quand les labels abondent.</a:t>
            </a:r>
            <a:endParaRPr lang="en-US" sz="1350" dirty="0"/>
          </a:p>
        </p:txBody>
      </p:sp>
      <p:sp>
        <p:nvSpPr>
          <p:cNvPr id="8" name="Shape 6"/>
          <p:cNvSpPr/>
          <p:nvPr/>
        </p:nvSpPr>
        <p:spPr>
          <a:xfrm>
            <a:off x="566928" y="2743200"/>
            <a:ext cx="10607040" cy="1234440"/>
          </a:xfrm>
          <a:prstGeom prst="roundRect">
            <a:avLst>
              <a:gd name="adj" fmla="val 5926"/>
            </a:avLst>
          </a:prstGeom>
          <a:solidFill>
            <a:srgbClr val="16283C"/>
          </a:solidFill>
          <a:ln w="12700">
            <a:solidFill>
              <a:srgbClr val="16283C"/>
            </a:solidFill>
            <a:prstDash val="solid"/>
          </a:ln>
        </p:spPr>
      </p:sp>
      <p:sp>
        <p:nvSpPr>
          <p:cNvPr id="9" name="Shape 7"/>
          <p:cNvSpPr/>
          <p:nvPr/>
        </p:nvSpPr>
        <p:spPr>
          <a:xfrm>
            <a:off x="841248" y="3145536"/>
            <a:ext cx="420624" cy="420624"/>
          </a:xfrm>
          <a:prstGeom prst="ellipse">
            <a:avLst/>
          </a:prstGeom>
          <a:solidFill>
            <a:srgbClr val="5FD2A6"/>
          </a:solidFill>
          <a:ln w="12700">
            <a:solidFill>
              <a:srgbClr val="5FD2A6"/>
            </a:solidFill>
            <a:prstDash val="solid"/>
          </a:ln>
        </p:spPr>
      </p:sp>
      <p:sp>
        <p:nvSpPr>
          <p:cNvPr id="10" name="Text 8"/>
          <p:cNvSpPr/>
          <p:nvPr/>
        </p:nvSpPr>
        <p:spPr>
          <a:xfrm>
            <a:off x="841248" y="314553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463040" y="2926080"/>
            <a:ext cx="941832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Ce sont les augmentations de couleur qui font le travail</a:t>
            </a:r>
            <a:endParaRPr lang="en-US" sz="1800" dirty="0"/>
          </a:p>
        </p:txBody>
      </p:sp>
      <p:sp>
        <p:nvSpPr>
          <p:cNvPr id="12" name="Text 10"/>
          <p:cNvSpPr/>
          <p:nvPr/>
        </p:nvSpPr>
        <p:spPr>
          <a:xfrm>
            <a:off x="1463040" y="3328416"/>
            <a:ext cx="9418320" cy="548640"/>
          </a:xfrm>
          <a:prstGeom prst="rect">
            <a:avLst/>
          </a:prstGeom>
          <a:noFill/>
          <a:ln/>
        </p:spPr>
        <p:txBody>
          <a:bodyPr wrap="square" lIns="0" tIns="0" rIns="0" bIns="0" rtlCol="0" anchor="ctr"/>
          <a:lstStyle/>
          <a:p>
            <a:pPr indent="0" marL="0">
              <a:buNone/>
            </a:pPr>
            <a:r>
              <a:rPr lang="en-US" sz="1350" dirty="0">
                <a:solidFill>
                  <a:srgbClr val="B9C6D6"/>
                </a:solidFill>
                <a:latin typeface="Calibri" pitchFamily="34" charset="0"/>
                <a:ea typeface="Calibri" pitchFamily="34" charset="-122"/>
                <a:cs typeface="Calibri" pitchFamily="34" charset="-120"/>
              </a:rPr>
              <a:t>+22,54 points à elles deux. Le retournement et le flou n'ont aucun effet mesurable à cette résolution.</a:t>
            </a:r>
            <a:endParaRPr lang="en-US" sz="1350" dirty="0"/>
          </a:p>
        </p:txBody>
      </p:sp>
      <p:sp>
        <p:nvSpPr>
          <p:cNvPr id="13" name="Shape 11"/>
          <p:cNvSpPr/>
          <p:nvPr/>
        </p:nvSpPr>
        <p:spPr>
          <a:xfrm>
            <a:off x="566928" y="4114800"/>
            <a:ext cx="10607040" cy="1234440"/>
          </a:xfrm>
          <a:prstGeom prst="roundRect">
            <a:avLst>
              <a:gd name="adj" fmla="val 5926"/>
            </a:avLst>
          </a:prstGeom>
          <a:solidFill>
            <a:srgbClr val="16283C"/>
          </a:solidFill>
          <a:ln w="12700">
            <a:solidFill>
              <a:srgbClr val="16283C"/>
            </a:solidFill>
            <a:prstDash val="solid"/>
          </a:ln>
        </p:spPr>
      </p:sp>
      <p:sp>
        <p:nvSpPr>
          <p:cNvPr id="14" name="Shape 12"/>
          <p:cNvSpPr/>
          <p:nvPr/>
        </p:nvSpPr>
        <p:spPr>
          <a:xfrm>
            <a:off x="841248" y="4517136"/>
            <a:ext cx="420624" cy="420624"/>
          </a:xfrm>
          <a:prstGeom prst="ellipse">
            <a:avLst/>
          </a:prstGeom>
          <a:solidFill>
            <a:srgbClr val="F79B77"/>
          </a:solidFill>
          <a:ln w="12700">
            <a:solidFill>
              <a:srgbClr val="F79B77"/>
            </a:solidFill>
            <a:prstDash val="solid"/>
          </a:ln>
        </p:spPr>
      </p:sp>
      <p:sp>
        <p:nvSpPr>
          <p:cNvPr id="15" name="Text 13"/>
          <p:cNvSpPr/>
          <p:nvPr/>
        </p:nvSpPr>
        <p:spPr>
          <a:xfrm>
            <a:off x="841248" y="451713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463040" y="4297680"/>
            <a:ext cx="941832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Bien résoudre la tâche prétexte n'est pas bien apprendre</a:t>
            </a:r>
            <a:endParaRPr lang="en-US" sz="1800" dirty="0"/>
          </a:p>
        </p:txBody>
      </p:sp>
      <p:sp>
        <p:nvSpPr>
          <p:cNvPr id="17" name="Text 15"/>
          <p:cNvSpPr/>
          <p:nvPr/>
        </p:nvSpPr>
        <p:spPr>
          <a:xfrm>
            <a:off x="1463040" y="4700016"/>
            <a:ext cx="9418320" cy="548640"/>
          </a:xfrm>
          <a:prstGeom prst="rect">
            <a:avLst/>
          </a:prstGeom>
          <a:noFill/>
          <a:ln/>
        </p:spPr>
        <p:txBody>
          <a:bodyPr wrap="square" lIns="0" tIns="0" rIns="0" bIns="0" rtlCol="0" anchor="ctr"/>
          <a:lstStyle/>
          <a:p>
            <a:pPr indent="0" marL="0">
              <a:buNone/>
            </a:pPr>
            <a:r>
              <a:rPr lang="en-US" sz="1350" dirty="0">
                <a:solidFill>
                  <a:srgbClr val="B9C6D6"/>
                </a:solidFill>
                <a:latin typeface="Calibri" pitchFamily="34" charset="0"/>
                <a:ea typeface="Calibri" pitchFamily="34" charset="-122"/>
                <a:cs typeface="Calibri" pitchFamily="34" charset="-120"/>
              </a:rPr>
              <a:t>La configuration qui minimise le mieux NT-Xent produit la pire représentation. Nous l'avons mesuré, et nous savons pourquoi.</a:t>
            </a:r>
            <a:endParaRPr lang="en-US" sz="1350" dirty="0"/>
          </a:p>
        </p:txBody>
      </p:sp>
      <p:sp>
        <p:nvSpPr>
          <p:cNvPr id="18" name="Text 16"/>
          <p:cNvSpPr/>
          <p:nvPr/>
        </p:nvSpPr>
        <p:spPr>
          <a:xfrm>
            <a:off x="566928" y="5541264"/>
            <a:ext cx="10607040" cy="457200"/>
          </a:xfrm>
          <a:prstGeom prst="rect">
            <a:avLst/>
          </a:prstGeom>
          <a:noFill/>
          <a:ln/>
        </p:spPr>
        <p:txBody>
          <a:bodyPr wrap="square" lIns="0" tIns="0" rIns="0" bIns="0" rtlCol="0" anchor="ctr"/>
          <a:lstStyle/>
          <a:p>
            <a:pPr indent="0" marL="0">
              <a:buNone/>
            </a:pPr>
            <a:r>
              <a:rPr lang="en-US" sz="1350" i="1" dirty="0">
                <a:solidFill>
                  <a:srgbClr val="6DA7EC"/>
                </a:solidFill>
                <a:latin typeface="Calibri" pitchFamily="34" charset="0"/>
                <a:ea typeface="Calibri" pitchFamily="34" charset="-122"/>
                <a:cs typeface="Calibri" pitchFamily="34" charset="-120"/>
              </a:rPr>
              <a:t>Prochaine étape la plus rentable : augmenter le nombre de négatifs par une file d'attente à la MoCo, plutôt que par un lot plus grand que le matériel n'autorise pas.</a:t>
            </a:r>
            <a:endParaRPr lang="en-US" sz="1350" dirty="0"/>
          </a:p>
        </p:txBody>
      </p:sp>
      <p:sp>
        <p:nvSpPr>
          <p:cNvPr id="19" name="Text 17"/>
          <p:cNvSpPr/>
          <p:nvPr/>
        </p:nvSpPr>
        <p:spPr>
          <a:xfrm>
            <a:off x="566928" y="6382512"/>
            <a:ext cx="4572000" cy="274320"/>
          </a:xfrm>
          <a:prstGeom prst="rect">
            <a:avLst/>
          </a:prstGeom>
          <a:noFill/>
          <a:ln/>
        </p:spPr>
        <p:txBody>
          <a:bodyPr wrap="square" lIns="0" tIns="0" rIns="0" bIns="0" rtlCol="0" anchor="ctr"/>
          <a:lstStyle/>
          <a:p>
            <a:pPr algn="l" indent="0" marL="0">
              <a:buNone/>
            </a:pPr>
            <a:r>
              <a:rPr lang="en-US" sz="1000" dirty="0">
                <a:solidFill>
                  <a:srgbClr val="8FA0B4"/>
                </a:solidFill>
                <a:latin typeface="Calibri" pitchFamily="34" charset="0"/>
                <a:ea typeface="Calibri" pitchFamily="34" charset="-122"/>
                <a:cs typeface="Calibri" pitchFamily="34" charset="-120"/>
              </a:rPr>
              <a:t>Rafiatou</a:t>
            </a:r>
            <a:endParaRPr lang="en-US" sz="1000" dirty="0"/>
          </a:p>
        </p:txBody>
      </p:sp>
      <p:sp>
        <p:nvSpPr>
          <p:cNvPr id="20" name="Text 18"/>
          <p:cNvSpPr/>
          <p:nvPr/>
        </p:nvSpPr>
        <p:spPr>
          <a:xfrm>
            <a:off x="7052767" y="6382512"/>
            <a:ext cx="4572000" cy="274320"/>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Limites et conclusion — 2 min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B2A"/>
        </a:solidFill>
      </p:bgPr>
    </p:bg>
    <p:spTree>
      <p:nvGrpSpPr>
        <p:cNvPr id="1" name=""/>
        <p:cNvGrpSpPr/>
        <p:nvPr/>
      </p:nvGrpSpPr>
      <p:grpSpPr>
        <a:xfrm>
          <a:off x="0" y="0"/>
          <a:ext cx="0" cy="0"/>
          <a:chOff x="0" y="0"/>
          <a:chExt cx="0" cy="0"/>
        </a:xfrm>
      </p:grpSpPr>
      <p:sp>
        <p:nvSpPr>
          <p:cNvPr id="2" name="Text 0"/>
          <p:cNvSpPr/>
          <p:nvPr/>
        </p:nvSpPr>
        <p:spPr>
          <a:xfrm>
            <a:off x="566928" y="274320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Slides de secours</a:t>
            </a:r>
            <a:endParaRPr lang="en-US" sz="4000" dirty="0"/>
          </a:p>
        </p:txBody>
      </p:sp>
      <p:sp>
        <p:nvSpPr>
          <p:cNvPr id="3" name="Text 1"/>
          <p:cNvSpPr/>
          <p:nvPr/>
        </p:nvSpPr>
        <p:spPr>
          <a:xfrm>
            <a:off x="566928" y="3611880"/>
            <a:ext cx="10607040" cy="365760"/>
          </a:xfrm>
          <a:prstGeom prst="rect">
            <a:avLst/>
          </a:prstGeom>
          <a:noFill/>
          <a:ln/>
        </p:spPr>
        <p:txBody>
          <a:bodyPr wrap="square" lIns="0" tIns="0" rIns="0" bIns="0" rtlCol="0" anchor="ctr"/>
          <a:lstStyle/>
          <a:p>
            <a:pPr indent="0" marL="0">
              <a:buNone/>
            </a:pPr>
            <a:r>
              <a:rPr lang="en-US" sz="1600" dirty="0">
                <a:solidFill>
                  <a:srgbClr val="6DA7EC"/>
                </a:solidFill>
                <a:latin typeface="Calibri" pitchFamily="34" charset="0"/>
                <a:ea typeface="Calibri" pitchFamily="34" charset="-122"/>
                <a:cs typeface="Calibri" pitchFamily="34" charset="-120"/>
              </a:rPr>
              <a:t>Réponses préparées aux questions attendues, courbes de pré-entraînement, répartition du travail.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3657600" cy="274320"/>
          </a:xfrm>
          <a:prstGeom prst="rect">
            <a:avLst/>
          </a:prstGeom>
          <a:noFill/>
          <a:ln/>
        </p:spPr>
        <p:txBody>
          <a:bodyPr wrap="square" lIns="0" tIns="0" rIns="0" bIns="0" rtlCol="0" anchor="ctr"/>
          <a:lstStyle/>
          <a:p>
            <a:pPr indent="0" marL="0">
              <a:buNone/>
            </a:pPr>
            <a:r>
              <a:rPr lang="en-US" sz="1100" b="1" spc="150" kern="0" dirty="0">
                <a:solidFill>
                  <a:srgbClr val="7C828C"/>
                </a:solidFill>
                <a:latin typeface="Calibri" pitchFamily="34" charset="0"/>
                <a:ea typeface="Calibri" pitchFamily="34" charset="-122"/>
                <a:cs typeface="Calibri" pitchFamily="34" charset="-120"/>
              </a:rPr>
              <a:t>SECOURS 1</a:t>
            </a:r>
            <a:endParaRPr lang="en-US" sz="1100" dirty="0"/>
          </a:p>
        </p:txBody>
      </p:sp>
      <p:sp>
        <p:nvSpPr>
          <p:cNvPr id="3" name="Text 1"/>
          <p:cNvSpPr/>
          <p:nvPr/>
        </p:nvSpPr>
        <p:spPr>
          <a:xfrm>
            <a:off x="566928" y="731520"/>
            <a:ext cx="11064240" cy="548640"/>
          </a:xfrm>
          <a:prstGeom prst="rect">
            <a:avLst/>
          </a:prstGeom>
          <a:noFill/>
          <a:ln/>
        </p:spPr>
        <p:txBody>
          <a:bodyPr wrap="square" lIns="0" tIns="0" rIns="0" bIns="0" rtlCol="0" anchor="ctr"/>
          <a:lstStyle/>
          <a:p>
            <a:pPr indent="0" marL="0">
              <a:buNone/>
            </a:pPr>
            <a:r>
              <a:rPr lang="en-US" sz="2700" b="1" dirty="0">
                <a:solidFill>
                  <a:srgbClr val="10131A"/>
                </a:solidFill>
                <a:latin typeface="Cambria" pitchFamily="34" charset="0"/>
                <a:ea typeface="Cambria" pitchFamily="34" charset="-122"/>
                <a:cs typeface="Cambria" pitchFamily="34" charset="-120"/>
              </a:rPr>
              <a:t>« Combien de graines avez-vous utilisées ? »</a:t>
            </a:r>
            <a:endParaRPr lang="en-US" sz="2700" dirty="0"/>
          </a:p>
        </p:txBody>
      </p:sp>
      <p:sp>
        <p:nvSpPr>
          <p:cNvPr id="4" name="Shape 2"/>
          <p:cNvSpPr/>
          <p:nvPr/>
        </p:nvSpPr>
        <p:spPr>
          <a:xfrm>
            <a:off x="566928" y="1463040"/>
            <a:ext cx="11064240" cy="960120"/>
          </a:xfrm>
          <a:prstGeom prst="roundRect">
            <a:avLst>
              <a:gd name="adj" fmla="val 7619"/>
            </a:avLst>
          </a:prstGeom>
          <a:solidFill>
            <a:srgbClr val="EAF2FC"/>
          </a:solidFill>
          <a:ln w="12700">
            <a:solidFill>
              <a:srgbClr val="2A78D6"/>
            </a:solidFill>
            <a:prstDash val="solid"/>
          </a:ln>
        </p:spPr>
      </p:sp>
      <p:sp>
        <p:nvSpPr>
          <p:cNvPr id="5" name="Text 3"/>
          <p:cNvSpPr/>
          <p:nvPr/>
        </p:nvSpPr>
        <p:spPr>
          <a:xfrm>
            <a:off x="859536" y="1463040"/>
            <a:ext cx="10469880" cy="96012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Trois pour toutes les évaluations aval — fine-tuning, linear probe, baseline. Une seule pour le pré-entraînement (graine 42).</a:t>
            </a:r>
            <a:endParaRPr lang="en-US" sz="1700" dirty="0"/>
          </a:p>
        </p:txBody>
      </p:sp>
      <p:sp>
        <p:nvSpPr>
          <p:cNvPr id="6" name="Text 4"/>
          <p:cNvSpPr/>
          <p:nvPr/>
        </p:nvSpPr>
        <p:spPr>
          <a:xfrm>
            <a:off x="612648" y="2651760"/>
            <a:ext cx="10972800" cy="3108960"/>
          </a:xfrm>
          <a:prstGeom prst="rect">
            <a:avLst/>
          </a:prstGeom>
          <a:noFill/>
          <a:ln/>
        </p:spPr>
        <p:txBody>
          <a:bodyPr wrap="square" lIns="0" tIns="0" rIns="0" bIns="0" rtlCol="0" anchor="t"/>
          <a:lstStyle/>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Nos ± mesurent donc la variabilité de l'évaluation, pas celle du pré-entraînement. Conséquence assumée : +13,46 et +9,08 sont trop grands pour être du bruit et nous les traitons comme solides ; −0,66 et −0,31 sont rapportés comme « aucun effet mesurable », jamais comme un effet négatif. Trois graines de pré-entraînement sur cinq configurations coûteraient environ 10 h de GPU.</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3657600" cy="274320"/>
          </a:xfrm>
          <a:prstGeom prst="rect">
            <a:avLst/>
          </a:prstGeom>
          <a:noFill/>
          <a:ln/>
        </p:spPr>
        <p:txBody>
          <a:bodyPr wrap="square" lIns="0" tIns="0" rIns="0" bIns="0" rtlCol="0" anchor="ctr"/>
          <a:lstStyle/>
          <a:p>
            <a:pPr indent="0" marL="0">
              <a:buNone/>
            </a:pPr>
            <a:r>
              <a:rPr lang="en-US" sz="1100" b="1" spc="150" kern="0" dirty="0">
                <a:solidFill>
                  <a:srgbClr val="7C828C"/>
                </a:solidFill>
                <a:latin typeface="Calibri" pitchFamily="34" charset="0"/>
                <a:ea typeface="Calibri" pitchFamily="34" charset="-122"/>
                <a:cs typeface="Calibri" pitchFamily="34" charset="-120"/>
              </a:rPr>
              <a:t>SECOURS 2</a:t>
            </a:r>
            <a:endParaRPr lang="en-US" sz="1100" dirty="0"/>
          </a:p>
        </p:txBody>
      </p:sp>
      <p:sp>
        <p:nvSpPr>
          <p:cNvPr id="3" name="Text 1"/>
          <p:cNvSpPr/>
          <p:nvPr/>
        </p:nvSpPr>
        <p:spPr>
          <a:xfrm>
            <a:off x="566928" y="731520"/>
            <a:ext cx="11064240" cy="548640"/>
          </a:xfrm>
          <a:prstGeom prst="rect">
            <a:avLst/>
          </a:prstGeom>
          <a:noFill/>
          <a:ln/>
        </p:spPr>
        <p:txBody>
          <a:bodyPr wrap="square" lIns="0" tIns="0" rIns="0" bIns="0" rtlCol="0" anchor="ctr"/>
          <a:lstStyle/>
          <a:p>
            <a:pPr indent="0" marL="0">
              <a:buNone/>
            </a:pPr>
            <a:r>
              <a:rPr lang="en-US" sz="2700" b="1" dirty="0">
                <a:solidFill>
                  <a:srgbClr val="10131A"/>
                </a:solidFill>
                <a:latin typeface="Cambria" pitchFamily="34" charset="0"/>
                <a:ea typeface="Cambria" pitchFamily="34" charset="-122"/>
                <a:cs typeface="Cambria" pitchFamily="34" charset="-120"/>
              </a:rPr>
              <a:t>« Qu'est-ce qui explique cet écart de performance ? »</a:t>
            </a:r>
            <a:endParaRPr lang="en-US" sz="2700" dirty="0"/>
          </a:p>
        </p:txBody>
      </p:sp>
      <p:sp>
        <p:nvSpPr>
          <p:cNvPr id="4" name="Shape 2"/>
          <p:cNvSpPr/>
          <p:nvPr/>
        </p:nvSpPr>
        <p:spPr>
          <a:xfrm>
            <a:off x="566928" y="1463040"/>
            <a:ext cx="11064240" cy="960120"/>
          </a:xfrm>
          <a:prstGeom prst="roundRect">
            <a:avLst>
              <a:gd name="adj" fmla="val 7619"/>
            </a:avLst>
          </a:prstGeom>
          <a:solidFill>
            <a:srgbClr val="EAF2FC"/>
          </a:solidFill>
          <a:ln w="12700">
            <a:solidFill>
              <a:srgbClr val="1BAF7A"/>
            </a:solidFill>
            <a:prstDash val="solid"/>
          </a:ln>
        </p:spPr>
      </p:sp>
      <p:sp>
        <p:nvSpPr>
          <p:cNvPr id="5" name="Text 3"/>
          <p:cNvSpPr/>
          <p:nvPr/>
        </p:nvSpPr>
        <p:spPr>
          <a:xfrm>
            <a:off x="859536" y="1463040"/>
            <a:ext cx="10469880" cy="96012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Le témoin à encodeur aléatoire gelé isole la cause : 25,66 % contre 72,00 % à 450 labels.</a:t>
            </a:r>
            <a:endParaRPr lang="en-US" sz="1700" dirty="0"/>
          </a:p>
        </p:txBody>
      </p:sp>
      <p:sp>
        <p:nvSpPr>
          <p:cNvPr id="6" name="Text 4"/>
          <p:cNvSpPr/>
          <p:nvPr/>
        </p:nvSpPr>
        <p:spPr>
          <a:xfrm>
            <a:off x="612648" y="2651760"/>
            <a:ext cx="10972800" cy="3108960"/>
          </a:xfrm>
          <a:prstGeom prst="rect">
            <a:avLst/>
          </a:prstGeom>
          <a:noFill/>
          <a:ln/>
        </p:spPr>
        <p:txBody>
          <a:bodyPr wrap="square" lIns="0" tIns="0" rIns="0" bIns="0" rtlCol="0" anchor="t"/>
          <a:lstStyle/>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Même architecture, même protocole d'évaluation, environ 5 130 poids entraînés dans les deux cas. La seule variable qui change est le contenu des poids de l'encodeur. Et l'ablation dit ce que ces poids ont appris : une invariance aux couleurs, sans laquelle la représentation s'effondre à 59,99 %.</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3657600" cy="274320"/>
          </a:xfrm>
          <a:prstGeom prst="rect">
            <a:avLst/>
          </a:prstGeom>
          <a:noFill/>
          <a:ln/>
        </p:spPr>
        <p:txBody>
          <a:bodyPr wrap="square" lIns="0" tIns="0" rIns="0" bIns="0" rtlCol="0" anchor="ctr"/>
          <a:lstStyle/>
          <a:p>
            <a:pPr indent="0" marL="0">
              <a:buNone/>
            </a:pPr>
            <a:r>
              <a:rPr lang="en-US" sz="1100" b="1" spc="150" kern="0" dirty="0">
                <a:solidFill>
                  <a:srgbClr val="7C828C"/>
                </a:solidFill>
                <a:latin typeface="Calibri" pitchFamily="34" charset="0"/>
                <a:ea typeface="Calibri" pitchFamily="34" charset="-122"/>
                <a:cs typeface="Calibri" pitchFamily="34" charset="-120"/>
              </a:rPr>
              <a:t>SECOURS 3</a:t>
            </a:r>
            <a:endParaRPr lang="en-US" sz="1100" dirty="0"/>
          </a:p>
        </p:txBody>
      </p:sp>
      <p:sp>
        <p:nvSpPr>
          <p:cNvPr id="3" name="Text 1"/>
          <p:cNvSpPr/>
          <p:nvPr/>
        </p:nvSpPr>
        <p:spPr>
          <a:xfrm>
            <a:off x="566928" y="731520"/>
            <a:ext cx="11064240" cy="548640"/>
          </a:xfrm>
          <a:prstGeom prst="rect">
            <a:avLst/>
          </a:prstGeom>
          <a:noFill/>
          <a:ln/>
        </p:spPr>
        <p:txBody>
          <a:bodyPr wrap="square" lIns="0" tIns="0" rIns="0" bIns="0" rtlCol="0" anchor="ctr"/>
          <a:lstStyle/>
          <a:p>
            <a:pPr indent="0" marL="0">
              <a:buNone/>
            </a:pPr>
            <a:r>
              <a:rPr lang="en-US" sz="2700" b="1" dirty="0">
                <a:solidFill>
                  <a:srgbClr val="10131A"/>
                </a:solidFill>
                <a:latin typeface="Cambria" pitchFamily="34" charset="0"/>
                <a:ea typeface="Cambria" pitchFamily="34" charset="-122"/>
                <a:cs typeface="Cambria" pitchFamily="34" charset="-120"/>
              </a:rPr>
              <a:t>« Que se passerait-il avec 10× plus de données ? »</a:t>
            </a:r>
            <a:endParaRPr lang="en-US" sz="2700" dirty="0"/>
          </a:p>
        </p:txBody>
      </p:sp>
      <p:sp>
        <p:nvSpPr>
          <p:cNvPr id="4" name="Shape 2"/>
          <p:cNvSpPr/>
          <p:nvPr/>
        </p:nvSpPr>
        <p:spPr>
          <a:xfrm>
            <a:off x="566928" y="1463040"/>
            <a:ext cx="11064240" cy="960120"/>
          </a:xfrm>
          <a:prstGeom prst="roundRect">
            <a:avLst>
              <a:gd name="adj" fmla="val 7619"/>
            </a:avLst>
          </a:prstGeom>
          <a:solidFill>
            <a:srgbClr val="EAF2FC"/>
          </a:solidFill>
          <a:ln w="12700">
            <a:solidFill>
              <a:srgbClr val="EB6834"/>
            </a:solidFill>
            <a:prstDash val="solid"/>
          </a:ln>
        </p:spPr>
      </p:sp>
      <p:sp>
        <p:nvSpPr>
          <p:cNvPr id="5" name="Text 3"/>
          <p:cNvSpPr/>
          <p:nvPr/>
        </p:nvSpPr>
        <p:spPr>
          <a:xfrm>
            <a:off x="859536" y="1463040"/>
            <a:ext cx="10469880" cy="96012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Il faut distinguer les labels des images non étiquetées.</a:t>
            </a:r>
            <a:endParaRPr lang="en-US" sz="1700" dirty="0"/>
          </a:p>
        </p:txBody>
      </p:sp>
      <p:sp>
        <p:nvSpPr>
          <p:cNvPr id="6" name="Text 4"/>
          <p:cNvSpPr/>
          <p:nvPr/>
        </p:nvSpPr>
        <p:spPr>
          <a:xfrm>
            <a:off x="612648" y="2651760"/>
            <a:ext cx="10972800" cy="3108960"/>
          </a:xfrm>
          <a:prstGeom prst="rect">
            <a:avLst/>
          </a:prstGeom>
          <a:noFill/>
          <a:ln/>
        </p:spPr>
        <p:txBody>
          <a:bodyPr wrap="square" lIns="0" tIns="0" rIns="0" bIns="0" rtlCol="0" anchor="t"/>
          <a:lstStyle/>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Dix fois plus de LABELS : la courbe répond déjà — l'écart passe de +32,58 à 450 labels à +0,43 à 45 000. Le bénéfice s'annule.</a:t>
            </a:r>
            <a:endParaRPr lang="en-US" sz="1550" dirty="0"/>
          </a:p>
          <a:p>
            <a:pPr indent="0" marL="0">
              <a:lnSpc>
                <a:spcPct val="125000"/>
              </a:lnSpc>
              <a:buNone/>
            </a:pPr>
            <a:endParaRPr lang="en-US" sz="1550" dirty="0"/>
          </a:p>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Dix fois plus d'IMAGES NON ÉTIQUETÉES : le pré-entraînement devrait s'améliorer, mais notre facteur limitant deviendrait la taille du lot, pas le volume de données. C'est exactement la dépendance documentée par Chen et al.</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3657600" cy="274320"/>
          </a:xfrm>
          <a:prstGeom prst="rect">
            <a:avLst/>
          </a:prstGeom>
          <a:noFill/>
          <a:ln/>
        </p:spPr>
        <p:txBody>
          <a:bodyPr wrap="square" lIns="0" tIns="0" rIns="0" bIns="0" rtlCol="0" anchor="ctr"/>
          <a:lstStyle/>
          <a:p>
            <a:pPr indent="0" marL="0">
              <a:buNone/>
            </a:pPr>
            <a:r>
              <a:rPr lang="en-US" sz="1100" b="1" spc="150" kern="0" dirty="0">
                <a:solidFill>
                  <a:srgbClr val="7C828C"/>
                </a:solidFill>
                <a:latin typeface="Calibri" pitchFamily="34" charset="0"/>
                <a:ea typeface="Calibri" pitchFamily="34" charset="-122"/>
                <a:cs typeface="Calibri" pitchFamily="34" charset="-120"/>
              </a:rPr>
              <a:t>SECOURS 4</a:t>
            </a:r>
            <a:endParaRPr lang="en-US" sz="1100" dirty="0"/>
          </a:p>
        </p:txBody>
      </p:sp>
      <p:sp>
        <p:nvSpPr>
          <p:cNvPr id="3" name="Text 1"/>
          <p:cNvSpPr/>
          <p:nvPr/>
        </p:nvSpPr>
        <p:spPr>
          <a:xfrm>
            <a:off x="566928" y="731520"/>
            <a:ext cx="11064240" cy="548640"/>
          </a:xfrm>
          <a:prstGeom prst="rect">
            <a:avLst/>
          </a:prstGeom>
          <a:noFill/>
          <a:ln/>
        </p:spPr>
        <p:txBody>
          <a:bodyPr wrap="square" lIns="0" tIns="0" rIns="0" bIns="0" rtlCol="0" anchor="ctr"/>
          <a:lstStyle/>
          <a:p>
            <a:pPr indent="0" marL="0">
              <a:buNone/>
            </a:pPr>
            <a:r>
              <a:rPr lang="en-US" sz="2700" b="1" dirty="0">
                <a:solidFill>
                  <a:srgbClr val="10131A"/>
                </a:solidFill>
                <a:latin typeface="Cambria" pitchFamily="34" charset="0"/>
                <a:ea typeface="Cambria" pitchFamily="34" charset="-122"/>
                <a:cs typeface="Cambria" pitchFamily="34" charset="-120"/>
              </a:rPr>
              <a:t>« Quelle est la limite principale de votre étude ? »</a:t>
            </a:r>
            <a:endParaRPr lang="en-US" sz="2700" dirty="0"/>
          </a:p>
        </p:txBody>
      </p:sp>
      <p:sp>
        <p:nvSpPr>
          <p:cNvPr id="4" name="Shape 2"/>
          <p:cNvSpPr/>
          <p:nvPr/>
        </p:nvSpPr>
        <p:spPr>
          <a:xfrm>
            <a:off x="566928" y="1463040"/>
            <a:ext cx="11064240" cy="960120"/>
          </a:xfrm>
          <a:prstGeom prst="roundRect">
            <a:avLst>
              <a:gd name="adj" fmla="val 7619"/>
            </a:avLst>
          </a:prstGeom>
          <a:solidFill>
            <a:srgbClr val="EAF2FC"/>
          </a:solidFill>
          <a:ln w="12700">
            <a:solidFill>
              <a:srgbClr val="6E7683"/>
            </a:solidFill>
            <a:prstDash val="solid"/>
          </a:ln>
        </p:spPr>
      </p:sp>
      <p:sp>
        <p:nvSpPr>
          <p:cNvPr id="5" name="Text 3"/>
          <p:cNvSpPr/>
          <p:nvPr/>
        </p:nvSpPr>
        <p:spPr>
          <a:xfrm>
            <a:off x="859536" y="1463040"/>
            <a:ext cx="10469880" cy="96012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La taille du lot : 256, soit 510 négatifs par ancre, contre plusieurs milliers dans le papier de référence.</a:t>
            </a:r>
            <a:endParaRPr lang="en-US" sz="1700" dirty="0"/>
          </a:p>
        </p:txBody>
      </p:sp>
      <p:sp>
        <p:nvSpPr>
          <p:cNvPr id="6" name="Text 4"/>
          <p:cNvSpPr/>
          <p:nvPr/>
        </p:nvSpPr>
        <p:spPr>
          <a:xfrm>
            <a:off x="612648" y="2651760"/>
            <a:ext cx="10972800" cy="3108960"/>
          </a:xfrm>
          <a:prstGeom prst="rect">
            <a:avLst/>
          </a:prstGeom>
          <a:noFill/>
          <a:ln/>
        </p:spPr>
        <p:txBody>
          <a:bodyPr wrap="square" lIns="0" tIns="0" rIns="0" bIns="0" rtlCol="0" anchor="t"/>
          <a:lstStyle/>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Elle plafonne la qualité atteignable et nous interdit de comparer nos chiffres absolus à ceux de la littérature.</a:t>
            </a:r>
            <a:endParaRPr lang="en-US" sz="1550" dirty="0"/>
          </a:p>
          <a:p>
            <a:pPr indent="0" marL="0">
              <a:lnSpc>
                <a:spcPct val="125000"/>
              </a:lnSpc>
              <a:buNone/>
            </a:pPr>
            <a:endParaRPr lang="en-US" sz="1550" dirty="0"/>
          </a:p>
          <a:p>
            <a:pPr indent="0" marL="0">
              <a:lnSpc>
                <a:spcPct val="125000"/>
              </a:lnSpc>
              <a:buNone/>
            </a:pPr>
            <a:r>
              <a:rPr lang="en-US" sz="1550" dirty="0">
                <a:solidFill>
                  <a:srgbClr val="4A4F58"/>
                </a:solidFill>
                <a:latin typeface="Calibri" pitchFamily="34" charset="0"/>
                <a:ea typeface="Calibri" pitchFamily="34" charset="-122"/>
                <a:cs typeface="Calibri" pitchFamily="34" charset="-120"/>
              </a:rPr>
              <a:t>Puis, si on nous relance : une seule graine de pré-entraînement ; le taux d'apprentissage réglé à 10 % puis transféré, d'où « parité » et non supériorité à 45 000 labels ; et le pré-entraînement a vu les 5 000 images de validation, sans leurs labels — pratique standard en SSL, mais nous le mentionnons.</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Courbes de pré-entraînement</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100 époques, lot 256, AdamW 3·10⁻⁴, échauffement 10 époques puis cosinus, précision mixte.</a:t>
            </a:r>
            <a:endParaRPr lang="en-US" sz="1400" dirty="0"/>
          </a:p>
        </p:txBody>
      </p:sp>
      <p:pic>
        <p:nvPicPr>
          <p:cNvPr id="4" name="Image 0" descr="/tmp/p10/fig/fig_preentrainement.png">    </p:cNvPr>
          <p:cNvPicPr>
            <a:picLocks noChangeAspect="1"/>
          </p:cNvPicPr>
          <p:nvPr/>
        </p:nvPicPr>
        <p:blipFill>
          <a:blip r:embed="rId1"/>
          <a:stretch>
            <a:fillRect/>
          </a:stretch>
        </p:blipFill>
        <p:spPr>
          <a:xfrm>
            <a:off x="2490780" y="1463040"/>
            <a:ext cx="7216536" cy="3383280"/>
          </a:xfrm>
          <a:prstGeom prst="rect">
            <a:avLst/>
          </a:prstGeom>
        </p:spPr>
      </p:pic>
      <p:sp>
        <p:nvSpPr>
          <p:cNvPr id="5" name="Shape 2"/>
          <p:cNvSpPr/>
          <p:nvPr/>
        </p:nvSpPr>
        <p:spPr>
          <a:xfrm>
            <a:off x="566928" y="5029200"/>
            <a:ext cx="11064240" cy="1097280"/>
          </a:xfrm>
          <a:prstGeom prst="roundRect">
            <a:avLst>
              <a:gd name="adj" fmla="val 6667"/>
            </a:avLst>
          </a:prstGeom>
          <a:solidFill>
            <a:srgbClr val="F4F6F9"/>
          </a:solidFill>
          <a:ln w="12700">
            <a:solidFill>
              <a:srgbClr val="DFE4EB"/>
            </a:solidFill>
            <a:prstDash val="solid"/>
          </a:ln>
        </p:spPr>
      </p:sp>
      <p:sp>
        <p:nvSpPr>
          <p:cNvPr id="6" name="Text 3"/>
          <p:cNvSpPr/>
          <p:nvPr/>
        </p:nvSpPr>
        <p:spPr>
          <a:xfrm>
            <a:off x="841248" y="5193792"/>
            <a:ext cx="10515600" cy="822960"/>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Deux diagnostics d'optimisation, pas deux mesures de qualité. La perte descend de 5,54 à 4,55 et le taux de positifs au premier rang monte de 7 % à 80,5 % : l'entraînement se déroule normalement. La courbe n'est pas au plateau — allonger à 400 ou 1 000 époques est notre piste n° 2.</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algn="l" indent="0" marL="0">
              <a:buNone/>
            </a:pPr>
            <a:r>
              <a:rPr lang="en-US" sz="3000" b="1" dirty="0">
                <a:solidFill>
                  <a:srgbClr val="10131A"/>
                </a:solidFill>
                <a:latin typeface="Cambria" pitchFamily="34" charset="0"/>
                <a:ea typeface="Cambria" pitchFamily="34" charset="-122"/>
                <a:cs typeface="Cambria" pitchFamily="34" charset="-120"/>
              </a:rPr>
              <a:t>Répartition du travail</a:t>
            </a:r>
            <a:endParaRPr lang="en-US" sz="3000" dirty="0"/>
          </a:p>
        </p:txBody>
      </p:sp>
      <p:sp>
        <p:nvSpPr>
          <p:cNvPr id="3" name="Text 1"/>
          <p:cNvSpPr/>
          <p:nvPr/>
        </p:nvSpPr>
        <p:spPr>
          <a:xfrm>
            <a:off x="566928" y="969264"/>
            <a:ext cx="11057839" cy="347472"/>
          </a:xfrm>
          <a:prstGeom prst="rect">
            <a:avLst/>
          </a:prstGeom>
          <a:noFill/>
          <a:ln/>
        </p:spPr>
        <p:txBody>
          <a:bodyPr wrap="square" lIns="0" tIns="0" rIns="0" bIns="0" rtlCol="0" anchor="ctr"/>
          <a:lstStyle/>
          <a:p>
            <a:pPr algn="l" indent="0" marL="0">
              <a:buNone/>
            </a:pPr>
            <a:r>
              <a:rPr lang="en-US" sz="1400" dirty="0">
                <a:solidFill>
                  <a:srgbClr val="4A4F58"/>
                </a:solidFill>
                <a:latin typeface="Calibri" pitchFamily="34" charset="0"/>
                <a:ea typeface="Calibri" pitchFamily="34" charset="-122"/>
                <a:cs typeface="Calibri" pitchFamily="34" charset="-120"/>
              </a:rPr>
              <a:t>Chaque membre possède le périmètre qu'il défend à l'oral. L'historique du dépôt reflète cette répartition.</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103120"/>
                <a:gridCol w="2651760"/>
                <a:gridCol w="6309360"/>
              </a:tblGrid>
              <a:tr h="0">
                <a:tc>
                  <a:txBody>
                    <a:bodyPr/>
                    <a:lstStyle/>
                    <a:p>
                      <a:pPr indent="0" marL="0">
                        <a:buNone/>
                      </a:pPr>
                      <a:r>
                        <a:rPr lang="en-US" sz="1200" b="1" dirty="0">
                          <a:solidFill>
                            <a:srgbClr val="10131A"/>
                          </a:solidFill>
                          <a:latin typeface="Calibri" pitchFamily="34" charset="0"/>
                          <a:ea typeface="Calibri" pitchFamily="34" charset="-122"/>
                          <a:cs typeface="Calibri" pitchFamily="34" charset="-120"/>
                        </a:rPr>
                        <a:t>Membre</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indent="0" marL="0">
                        <a:buNone/>
                      </a:pPr>
                      <a:r>
                        <a:rPr lang="en-US" sz="1200" b="1" dirty="0">
                          <a:solidFill>
                            <a:srgbClr val="10131A"/>
                          </a:solidFill>
                          <a:latin typeface="Calibri" pitchFamily="34" charset="0"/>
                          <a:ea typeface="Calibri" pitchFamily="34" charset="-122"/>
                          <a:cs typeface="Calibri" pitchFamily="34" charset="-120"/>
                        </a:rPr>
                        <a:t>Rôle (nommé par le sujet)</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c>
                  <a:txBody>
                    <a:bodyPr/>
                    <a:lstStyle/>
                    <a:p>
                      <a:pPr indent="0" marL="0">
                        <a:buNone/>
                      </a:pPr>
                      <a:r>
                        <a:rPr lang="en-US" sz="1200" b="1" dirty="0">
                          <a:solidFill>
                            <a:srgbClr val="10131A"/>
                          </a:solidFill>
                          <a:latin typeface="Calibri" pitchFamily="34" charset="0"/>
                          <a:ea typeface="Calibri" pitchFamily="34" charset="-122"/>
                          <a:cs typeface="Calibri" pitchFamily="34" charset="-120"/>
                        </a:rPr>
                        <a:t>Contributions précises</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solidFill>
                      <a:srgbClr val="EDF1F6"/>
                    </a:solidFill>
                  </a:tcPr>
                </a:tc>
              </a:tr>
              <a:tr h="0">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KAMBIA Rafiatou</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10131A"/>
                          </a:solidFill>
                          <a:latin typeface="Calibri" pitchFamily="34" charset="0"/>
                          <a:ea typeface="Calibri" pitchFamily="34" charset="-122"/>
                          <a:cs typeface="Calibri" pitchFamily="34" charset="-120"/>
                        </a:rPr>
                        <a:t>Data / Experiment Engineer</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4A4F58"/>
                          </a:solidFill>
                          <a:latin typeface="Calibri" pitchFamily="34" charset="0"/>
                          <a:ea typeface="Calibri" pitchFamily="34" charset="-122"/>
                          <a:cs typeface="Calibri" pitchFamily="34" charset="-120"/>
                        </a:rPr>
                        <a:t>Chargement et analyse exploratoire de CIFAR-10 ; chaîne d'augmentations paramétrable par brique ; découpage stratifié et script de vérification anti-fuite ; balayage symétrique du taux d'apprentissage ; documentation de reproduction et gestion des graines.</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0">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ALLAGLO Kossiko</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10131A"/>
                          </a:solidFill>
                          <a:latin typeface="Calibri" pitchFamily="34" charset="0"/>
                          <a:ea typeface="Calibri" pitchFamily="34" charset="-122"/>
                          <a:cs typeface="Calibri" pitchFamily="34" charset="-120"/>
                        </a:rPr>
                        <a:t>Model / Research Engineer</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4A4F58"/>
                          </a:solidFill>
                          <a:latin typeface="Calibri" pitchFamily="34" charset="0"/>
                          <a:ea typeface="Calibri" pitchFamily="34" charset="-122"/>
                          <a:cs typeface="Calibri" pitchFamily="34" charset="-120"/>
                        </a:rPr>
                        <a:t>Encodeur ResNet-18 adapté et tête de projection ; perte NT-Xent et sa vérification ; boucle de pré-entraînement ; les trois protocoles d'évaluation et le témoin aléatoire ; conception et exécution de l'étude d'ablation.</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r h="0">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AMEGNRAN Athanase</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10131A"/>
                          </a:solidFill>
                          <a:latin typeface="Calibri" pitchFamily="34" charset="0"/>
                          <a:ea typeface="Calibri" pitchFamily="34" charset="-122"/>
                          <a:cs typeface="Calibri" pitchFamily="34" charset="-120"/>
                        </a:rPr>
                        <a:t>Reporting / Backend Developer</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c>
                  <a:txBody>
                    <a:bodyPr/>
                    <a:lstStyle/>
                    <a:p>
                      <a:pPr indent="0" marL="0">
                        <a:buNone/>
                      </a:pPr>
                      <a:r>
                        <a:rPr lang="en-US" sz="1200" dirty="0">
                          <a:solidFill>
                            <a:srgbClr val="4A4F58"/>
                          </a:solidFill>
                          <a:latin typeface="Calibri" pitchFamily="34" charset="0"/>
                          <a:ea typeface="Calibri" pitchFamily="34" charset="-122"/>
                          <a:cs typeface="Calibri" pitchFamily="34" charset="-120"/>
                        </a:rPr>
                        <a:t>Application web de démonstration : extraction des représentations, projections t-SNE et PCA, plus proches voisins, matrice de confusion ; README et documentation ; figures ; assemblage du rapport et de la présentation.</a:t>
                      </a:r>
                      <a:endParaRPr lang="en-US" sz="1200" dirty="0">
                        <a:latin typeface="Calibri" charset="0"/>
                        <a:ea typeface="Calibri" charset="0"/>
                        <a:cs typeface="Calibri" charset="0"/>
                      </a:endParaRPr>
                    </a:p>
                  </a:txBody>
                  <a:tcPr marL="101600" marR="101600" marT="76200" marB="76200" anchor="t">
                    <a:lnL w="12700" cap="flat" cmpd="sng" algn="ctr">
                      <a:solidFill>
                        <a:srgbClr val="DFE4EB"/>
                      </a:solidFill>
                      <a:prstDash val="solid"/>
                      <a:round/>
                      <a:headEnd type="none" w="med" len="med"/>
                      <a:tailEnd type="none" w="med" len="med"/>
                    </a:lnL>
                    <a:lnR w="12700" cap="flat" cmpd="sng" algn="ctr">
                      <a:solidFill>
                        <a:srgbClr val="DFE4EB"/>
                      </a:solidFill>
                      <a:prstDash val="solid"/>
                      <a:round/>
                      <a:headEnd type="none" w="med" len="med"/>
                      <a:tailEnd type="none" w="med" len="med"/>
                    </a:lnR>
                    <a:lnT w="12700" cap="flat" cmpd="sng" algn="ctr">
                      <a:solidFill>
                        <a:srgbClr val="DFE4EB"/>
                      </a:solidFill>
                      <a:prstDash val="solid"/>
                      <a:round/>
                      <a:headEnd type="none" w="med" len="med"/>
                      <a:tailEnd type="none" w="med" len="med"/>
                    </a:lnT>
                    <a:lnB w="12700" cap="flat" cmpd="sng" algn="ctr">
                      <a:solidFill>
                        <a:srgbClr val="DFE4EB"/>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SimCLR sur CIFAR-10 — soutenance</dc:title>
  <dc:subject>PptxGenJS Presentation</dc:subject>
  <dc:creator>KAMBIA Rafiatou / ALLAGLO Kossiko / AMEGNRAN Athanase</dc:creator>
  <cp:lastModifiedBy>KAMBIA Rafiatou / ALLAGLO Kossiko / AMEGNRAN Athanase</cp:lastModifiedBy>
  <cp:revision>1</cp:revision>
  <dcterms:created xsi:type="dcterms:W3CDTF">2026-08-23T11:15:34Z</dcterms:created>
  <dcterms:modified xsi:type="dcterms:W3CDTF">2026-08-23T11:15:34Z</dcterms:modified>
</cp:coreProperties>
</file>